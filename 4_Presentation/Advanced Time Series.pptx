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66" r:id="rId4"/>
    <p:sldId id="268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7" r:id="rId14"/>
    <p:sldId id="265" r:id="rId15"/>
  </p:sldIdLst>
  <p:sldSz cx="18288000" cy="10287000"/>
  <p:notesSz cx="6858000" cy="9144000"/>
  <p:embeddedFontLst>
    <p:embeddedFont>
      <p:font typeface="Poppins" panose="00000500000000000000" pitchFamily="2" charset="0"/>
      <p:regular r:id="rId16"/>
      <p:bold r:id="rId17"/>
      <p:italic r:id="rId18"/>
      <p:boldItalic r:id="rId19"/>
    </p:embeddedFont>
    <p:embeddedFont>
      <p:font typeface="Telegraf" panose="020B0604020202020204" charset="0"/>
      <p:regular r:id="rId20"/>
    </p:embeddedFont>
    <p:embeddedFont>
      <p:font typeface="Telegraf Bold" panose="020B0604020202020204" charset="0"/>
      <p:regular r:id="rId21"/>
    </p:embeddedFont>
    <p:embeddedFont>
      <p:font typeface="Telegraf Heavy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A406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4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worldmansist/German-energy-Time-Series-analysis-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svg"/><Relationship Id="rId7" Type="http://schemas.openxmlformats.org/officeDocument/2006/relationships/image" Target="../media/image38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svg"/><Relationship Id="rId4" Type="http://schemas.openxmlformats.org/officeDocument/2006/relationships/image" Target="../media/image35.png"/><Relationship Id="rId9" Type="http://schemas.openxmlformats.org/officeDocument/2006/relationships/image" Target="../media/image40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worldmansist/German-energy-Time-Series-analysis-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20906" y="7638820"/>
            <a:ext cx="3579538" cy="1619480"/>
            <a:chOff x="0" y="0"/>
            <a:chExt cx="942759" cy="4265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2759" cy="426530"/>
            </a:xfrm>
            <a:custGeom>
              <a:avLst/>
              <a:gdLst/>
              <a:ahLst/>
              <a:cxnLst/>
              <a:rect l="l" t="t" r="r" b="b"/>
              <a:pathLst>
                <a:path w="942759" h="426530">
                  <a:moveTo>
                    <a:pt x="110304" y="0"/>
                  </a:moveTo>
                  <a:lnTo>
                    <a:pt x="832455" y="0"/>
                  </a:lnTo>
                  <a:cubicBezTo>
                    <a:pt x="893374" y="0"/>
                    <a:pt x="942759" y="49385"/>
                    <a:pt x="942759" y="110304"/>
                  </a:cubicBezTo>
                  <a:lnTo>
                    <a:pt x="942759" y="316225"/>
                  </a:lnTo>
                  <a:cubicBezTo>
                    <a:pt x="942759" y="377145"/>
                    <a:pt x="893374" y="426530"/>
                    <a:pt x="832455" y="426530"/>
                  </a:cubicBezTo>
                  <a:lnTo>
                    <a:pt x="110304" y="426530"/>
                  </a:lnTo>
                  <a:cubicBezTo>
                    <a:pt x="49385" y="426530"/>
                    <a:pt x="0" y="377145"/>
                    <a:pt x="0" y="316225"/>
                  </a:cubicBezTo>
                  <a:lnTo>
                    <a:pt x="0" y="110304"/>
                  </a:lnTo>
                  <a:cubicBezTo>
                    <a:pt x="0" y="49385"/>
                    <a:pt x="49385" y="0"/>
                    <a:pt x="110304" y="0"/>
                  </a:cubicBezTo>
                  <a:close/>
                </a:path>
              </a:pathLst>
            </a:custGeom>
            <a:solidFill>
              <a:srgbClr val="DDDD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42759" cy="464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7638820"/>
            <a:ext cx="6087406" cy="1619480"/>
            <a:chOff x="0" y="0"/>
            <a:chExt cx="1603267" cy="4265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03267" cy="426530"/>
            </a:xfrm>
            <a:custGeom>
              <a:avLst/>
              <a:gdLst/>
              <a:ahLst/>
              <a:cxnLst/>
              <a:rect l="l" t="t" r="r" b="b"/>
              <a:pathLst>
                <a:path w="1603267" h="426530">
                  <a:moveTo>
                    <a:pt x="64861" y="0"/>
                  </a:moveTo>
                  <a:lnTo>
                    <a:pt x="1538406" y="0"/>
                  </a:lnTo>
                  <a:cubicBezTo>
                    <a:pt x="1574228" y="0"/>
                    <a:pt x="1603267" y="29039"/>
                    <a:pt x="1603267" y="64861"/>
                  </a:cubicBezTo>
                  <a:lnTo>
                    <a:pt x="1603267" y="361668"/>
                  </a:lnTo>
                  <a:cubicBezTo>
                    <a:pt x="1603267" y="397490"/>
                    <a:pt x="1574228" y="426530"/>
                    <a:pt x="1538406" y="426530"/>
                  </a:cubicBezTo>
                  <a:lnTo>
                    <a:pt x="64861" y="426530"/>
                  </a:lnTo>
                  <a:cubicBezTo>
                    <a:pt x="47659" y="426530"/>
                    <a:pt x="31161" y="419696"/>
                    <a:pt x="18997" y="407532"/>
                  </a:cubicBezTo>
                  <a:cubicBezTo>
                    <a:pt x="6834" y="395368"/>
                    <a:pt x="0" y="378870"/>
                    <a:pt x="0" y="361668"/>
                  </a:cubicBezTo>
                  <a:lnTo>
                    <a:pt x="0" y="64861"/>
                  </a:lnTo>
                  <a:cubicBezTo>
                    <a:pt x="0" y="29039"/>
                    <a:pt x="29039" y="0"/>
                    <a:pt x="64861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603267" cy="464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5728" y="2095500"/>
            <a:ext cx="18288000" cy="295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9600" b="1" dirty="0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Energy consumption </a:t>
            </a:r>
          </a:p>
          <a:p>
            <a:pPr algn="ctr"/>
            <a:r>
              <a:rPr lang="en-US" sz="9600" b="1" dirty="0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forecasting project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5385338"/>
            <a:ext cx="16230600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spc="1058">
                <a:solidFill>
                  <a:srgbClr val="ECA406"/>
                </a:solidFill>
                <a:latin typeface="Poppins"/>
                <a:ea typeface="Poppins"/>
                <a:cs typeface="Poppins"/>
                <a:sym typeface="Poppins"/>
              </a:rPr>
              <a:t>PRESENTATION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97011" y="7960702"/>
            <a:ext cx="3045434" cy="97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Melnichenko Mikhail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47800" y="8025650"/>
            <a:ext cx="6400800" cy="7096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3600" b="1" dirty="0">
                <a:solidFill>
                  <a:srgbClr val="F5F5F5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Advanced Time Series</a:t>
            </a:r>
          </a:p>
        </p:txBody>
      </p:sp>
      <p:grpSp>
        <p:nvGrpSpPr>
          <p:cNvPr id="8" name="Group 5">
            <a:extLst>
              <a:ext uri="{FF2B5EF4-FFF2-40B4-BE49-F238E27FC236}">
                <a16:creationId xmlns:a16="http://schemas.microsoft.com/office/drawing/2014/main" id="{3EDBD3DC-DAA2-4B32-D3C4-0AE5127183F4}"/>
              </a:ext>
            </a:extLst>
          </p:cNvPr>
          <p:cNvGrpSpPr/>
          <p:nvPr/>
        </p:nvGrpSpPr>
        <p:grpSpPr>
          <a:xfrm>
            <a:off x="11305244" y="7638820"/>
            <a:ext cx="6087406" cy="1619480"/>
            <a:chOff x="0" y="0"/>
            <a:chExt cx="1603267" cy="426530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B7B8B8D3-C047-CD67-E8C1-5CD8EAD13772}"/>
                </a:ext>
              </a:extLst>
            </p:cNvPr>
            <p:cNvSpPr/>
            <p:nvPr/>
          </p:nvSpPr>
          <p:spPr>
            <a:xfrm>
              <a:off x="0" y="0"/>
              <a:ext cx="1603267" cy="426530"/>
            </a:xfrm>
            <a:custGeom>
              <a:avLst/>
              <a:gdLst/>
              <a:ahLst/>
              <a:cxnLst/>
              <a:rect l="l" t="t" r="r" b="b"/>
              <a:pathLst>
                <a:path w="1603267" h="426530">
                  <a:moveTo>
                    <a:pt x="64861" y="0"/>
                  </a:moveTo>
                  <a:lnTo>
                    <a:pt x="1538406" y="0"/>
                  </a:lnTo>
                  <a:cubicBezTo>
                    <a:pt x="1574228" y="0"/>
                    <a:pt x="1603267" y="29039"/>
                    <a:pt x="1603267" y="64861"/>
                  </a:cubicBezTo>
                  <a:lnTo>
                    <a:pt x="1603267" y="361668"/>
                  </a:lnTo>
                  <a:cubicBezTo>
                    <a:pt x="1603267" y="397490"/>
                    <a:pt x="1574228" y="426530"/>
                    <a:pt x="1538406" y="426530"/>
                  </a:cubicBezTo>
                  <a:lnTo>
                    <a:pt x="64861" y="426530"/>
                  </a:lnTo>
                  <a:cubicBezTo>
                    <a:pt x="47659" y="426530"/>
                    <a:pt x="31161" y="419696"/>
                    <a:pt x="18997" y="407532"/>
                  </a:cubicBezTo>
                  <a:cubicBezTo>
                    <a:pt x="6834" y="395368"/>
                    <a:pt x="0" y="378870"/>
                    <a:pt x="0" y="361668"/>
                  </a:cubicBezTo>
                  <a:lnTo>
                    <a:pt x="0" y="64861"/>
                  </a:lnTo>
                  <a:cubicBezTo>
                    <a:pt x="0" y="29039"/>
                    <a:pt x="29039" y="0"/>
                    <a:pt x="64861" y="0"/>
                  </a:cubicBezTo>
                  <a:close/>
                </a:path>
              </a:pathLst>
            </a:custGeom>
            <a:solidFill>
              <a:srgbClr val="ECA406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" name="TextBox 7">
              <a:extLst>
                <a:ext uri="{FF2B5EF4-FFF2-40B4-BE49-F238E27FC236}">
                  <a16:creationId xmlns:a16="http://schemas.microsoft.com/office/drawing/2014/main" id="{BA346D3F-E4D4-1D8C-4576-267228359FD5}"/>
                </a:ext>
              </a:extLst>
            </p:cNvPr>
            <p:cNvSpPr txBox="1"/>
            <p:nvPr/>
          </p:nvSpPr>
          <p:spPr>
            <a:xfrm>
              <a:off x="0" y="-38100"/>
              <a:ext cx="1603267" cy="464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11" name="TextBox 16">
            <a:extLst>
              <a:ext uri="{FF2B5EF4-FFF2-40B4-BE49-F238E27FC236}">
                <a16:creationId xmlns:a16="http://schemas.microsoft.com/office/drawing/2014/main" id="{BB8A867C-AC44-EB08-C229-C2D1052DE24B}"/>
              </a:ext>
            </a:extLst>
          </p:cNvPr>
          <p:cNvSpPr txBox="1"/>
          <p:nvPr/>
        </p:nvSpPr>
        <p:spPr>
          <a:xfrm>
            <a:off x="11753850" y="8025650"/>
            <a:ext cx="5638800" cy="7005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worldmansist</a:t>
            </a:r>
            <a:r>
              <a:rPr lang="en-US" sz="16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/German-energy-Time-Series-analysis-: Project for </a:t>
            </a:r>
            <a:r>
              <a:rPr lang="en-US" sz="1600" dirty="0" err="1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opencampus</a:t>
            </a:r>
            <a:r>
              <a:rPr lang="en-US" sz="16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course Advanced Time Series Prediction</a:t>
            </a:r>
            <a:endParaRPr lang="en-US" sz="1600" b="1" dirty="0">
              <a:solidFill>
                <a:schemeClr val="bg1"/>
              </a:solidFill>
              <a:latin typeface="Telegraf Heavy"/>
              <a:ea typeface="Telegraf Heavy"/>
              <a:cs typeface="Telegraf Heavy"/>
              <a:sym typeface="Telegraf Heav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978" y="1409700"/>
            <a:ext cx="5219121" cy="4129217"/>
            <a:chOff x="0" y="0"/>
            <a:chExt cx="1432647" cy="11334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2647" cy="1133469"/>
            </a:xfrm>
            <a:custGeom>
              <a:avLst/>
              <a:gdLst/>
              <a:ahLst/>
              <a:cxnLst/>
              <a:rect l="l" t="t" r="r" b="b"/>
              <a:pathLst>
                <a:path w="1432647" h="1133469">
                  <a:moveTo>
                    <a:pt x="75652" y="0"/>
                  </a:moveTo>
                  <a:lnTo>
                    <a:pt x="1356995" y="0"/>
                  </a:lnTo>
                  <a:cubicBezTo>
                    <a:pt x="1377059" y="0"/>
                    <a:pt x="1396302" y="7970"/>
                    <a:pt x="1410489" y="22158"/>
                  </a:cubicBezTo>
                  <a:cubicBezTo>
                    <a:pt x="1424677" y="36346"/>
                    <a:pt x="1432647" y="55588"/>
                    <a:pt x="1432647" y="75652"/>
                  </a:cubicBezTo>
                  <a:lnTo>
                    <a:pt x="1432647" y="1057817"/>
                  </a:lnTo>
                  <a:cubicBezTo>
                    <a:pt x="1432647" y="1099598"/>
                    <a:pt x="1398777" y="1133469"/>
                    <a:pt x="1356995" y="1133469"/>
                  </a:cubicBezTo>
                  <a:lnTo>
                    <a:pt x="75652" y="1133469"/>
                  </a:lnTo>
                  <a:cubicBezTo>
                    <a:pt x="33871" y="1133469"/>
                    <a:pt x="0" y="1099598"/>
                    <a:pt x="0" y="1057817"/>
                  </a:cubicBezTo>
                  <a:lnTo>
                    <a:pt x="0" y="75652"/>
                  </a:lnTo>
                  <a:cubicBezTo>
                    <a:pt x="0" y="33871"/>
                    <a:pt x="33871" y="0"/>
                    <a:pt x="75652" y="0"/>
                  </a:cubicBezTo>
                  <a:close/>
                </a:path>
              </a:pathLst>
            </a:custGeom>
            <a:solidFill>
              <a:srgbClr val="DDDD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32647" cy="1171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306879" y="1409700"/>
            <a:ext cx="5219121" cy="4129217"/>
            <a:chOff x="0" y="0"/>
            <a:chExt cx="1432647" cy="113346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32647" cy="1133469"/>
            </a:xfrm>
            <a:custGeom>
              <a:avLst/>
              <a:gdLst/>
              <a:ahLst/>
              <a:cxnLst/>
              <a:rect l="l" t="t" r="r" b="b"/>
              <a:pathLst>
                <a:path w="1432647" h="1133469">
                  <a:moveTo>
                    <a:pt x="75652" y="0"/>
                  </a:moveTo>
                  <a:lnTo>
                    <a:pt x="1356995" y="0"/>
                  </a:lnTo>
                  <a:cubicBezTo>
                    <a:pt x="1377059" y="0"/>
                    <a:pt x="1396302" y="7970"/>
                    <a:pt x="1410489" y="22158"/>
                  </a:cubicBezTo>
                  <a:cubicBezTo>
                    <a:pt x="1424677" y="36346"/>
                    <a:pt x="1432647" y="55588"/>
                    <a:pt x="1432647" y="75652"/>
                  </a:cubicBezTo>
                  <a:lnTo>
                    <a:pt x="1432647" y="1057817"/>
                  </a:lnTo>
                  <a:cubicBezTo>
                    <a:pt x="1432647" y="1099598"/>
                    <a:pt x="1398777" y="1133469"/>
                    <a:pt x="1356995" y="1133469"/>
                  </a:cubicBezTo>
                  <a:lnTo>
                    <a:pt x="75652" y="1133469"/>
                  </a:lnTo>
                  <a:cubicBezTo>
                    <a:pt x="33871" y="1133469"/>
                    <a:pt x="0" y="1099598"/>
                    <a:pt x="0" y="1057817"/>
                  </a:cubicBezTo>
                  <a:lnTo>
                    <a:pt x="0" y="75652"/>
                  </a:lnTo>
                  <a:cubicBezTo>
                    <a:pt x="0" y="33871"/>
                    <a:pt x="33871" y="0"/>
                    <a:pt x="75652" y="0"/>
                  </a:cubicBezTo>
                  <a:close/>
                </a:path>
              </a:pathLst>
            </a:custGeom>
            <a:solidFill>
              <a:srgbClr val="DDDDD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432647" cy="1171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462991" y="1409700"/>
            <a:ext cx="5489121" cy="4129217"/>
            <a:chOff x="0" y="0"/>
            <a:chExt cx="1432647" cy="113346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32647" cy="1133469"/>
            </a:xfrm>
            <a:custGeom>
              <a:avLst/>
              <a:gdLst/>
              <a:ahLst/>
              <a:cxnLst/>
              <a:rect l="l" t="t" r="r" b="b"/>
              <a:pathLst>
                <a:path w="1432647" h="1133469">
                  <a:moveTo>
                    <a:pt x="75652" y="0"/>
                  </a:moveTo>
                  <a:lnTo>
                    <a:pt x="1356995" y="0"/>
                  </a:lnTo>
                  <a:cubicBezTo>
                    <a:pt x="1377059" y="0"/>
                    <a:pt x="1396302" y="7970"/>
                    <a:pt x="1410489" y="22158"/>
                  </a:cubicBezTo>
                  <a:cubicBezTo>
                    <a:pt x="1424677" y="36346"/>
                    <a:pt x="1432647" y="55588"/>
                    <a:pt x="1432647" y="75652"/>
                  </a:cubicBezTo>
                  <a:lnTo>
                    <a:pt x="1432647" y="1057817"/>
                  </a:lnTo>
                  <a:cubicBezTo>
                    <a:pt x="1432647" y="1099598"/>
                    <a:pt x="1398777" y="1133469"/>
                    <a:pt x="1356995" y="1133469"/>
                  </a:cubicBezTo>
                  <a:lnTo>
                    <a:pt x="75652" y="1133469"/>
                  </a:lnTo>
                  <a:cubicBezTo>
                    <a:pt x="33871" y="1133469"/>
                    <a:pt x="0" y="1099598"/>
                    <a:pt x="0" y="1057817"/>
                  </a:cubicBezTo>
                  <a:lnTo>
                    <a:pt x="0" y="75652"/>
                  </a:lnTo>
                  <a:cubicBezTo>
                    <a:pt x="0" y="33871"/>
                    <a:pt x="33871" y="0"/>
                    <a:pt x="75652" y="0"/>
                  </a:cubicBezTo>
                  <a:close/>
                </a:path>
              </a:pathLst>
            </a:custGeom>
            <a:solidFill>
              <a:srgbClr val="DDDDDD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432647" cy="1171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97561" y="1784421"/>
            <a:ext cx="4823953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40"/>
              </a:lnSpc>
            </a:pPr>
            <a:r>
              <a:rPr lang="en-US" sz="4200" b="1" dirty="0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Feature 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10646" y="2619633"/>
            <a:ext cx="3597786" cy="258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</a:pPr>
            <a:r>
              <a:rPr lang="en-US" sz="2100" b="1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15-minutes</a:t>
            </a:r>
            <a:r>
              <a:rPr lang="en-US" sz="2100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time intervals for </a:t>
            </a:r>
            <a:r>
              <a:rPr lang="en-US" sz="2100" b="1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187299</a:t>
            </a:r>
            <a:r>
              <a:rPr lang="en-US" sz="2100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total observations </a:t>
            </a:r>
          </a:p>
          <a:p>
            <a:pPr marL="0" lvl="0" indent="0">
              <a:lnSpc>
                <a:spcPts val="2940"/>
              </a:lnSpc>
            </a:pPr>
            <a:r>
              <a:rPr lang="en-US" sz="2100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From </a:t>
            </a:r>
          </a:p>
          <a:p>
            <a:pPr marL="0" lvl="0" indent="0">
              <a:lnSpc>
                <a:spcPts val="2940"/>
              </a:lnSpc>
            </a:pPr>
            <a:r>
              <a:rPr lang="en-US" sz="2100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2019-12-31 -23:00:00</a:t>
            </a:r>
          </a:p>
          <a:p>
            <a:pPr marL="0" lvl="0" indent="0">
              <a:lnSpc>
                <a:spcPts val="2940"/>
              </a:lnSpc>
            </a:pPr>
            <a:r>
              <a:rPr lang="en-US" sz="2100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till</a:t>
            </a:r>
          </a:p>
          <a:p>
            <a:pPr marL="0" lvl="0" indent="0">
              <a:lnSpc>
                <a:spcPts val="2940"/>
              </a:lnSpc>
            </a:pPr>
            <a:r>
              <a:rPr lang="en-US" sz="2100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2025-05-04-22:00:00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504462" y="1711239"/>
            <a:ext cx="4823953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40"/>
              </a:lnSpc>
            </a:pPr>
            <a:r>
              <a:rPr lang="en-US" sz="4200" b="1" dirty="0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Feature 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798798" y="1711240"/>
            <a:ext cx="4823953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40"/>
              </a:lnSpc>
            </a:pPr>
            <a:r>
              <a:rPr lang="en-US" sz="4200" b="1" dirty="0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Feature 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439424" y="3191373"/>
            <a:ext cx="4922888" cy="14700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</a:pPr>
            <a:r>
              <a:rPr lang="ru-RU" sz="2100" b="1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187195 </a:t>
            </a:r>
            <a:r>
              <a:rPr lang="en-US" sz="2100" b="1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observations left </a:t>
            </a:r>
            <a:r>
              <a:rPr lang="en-US" sz="2100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after the missing data was deleted </a:t>
            </a:r>
          </a:p>
          <a:p>
            <a:pPr marL="0" lvl="0" indent="0" algn="ctr">
              <a:lnSpc>
                <a:spcPts val="2940"/>
              </a:lnSpc>
            </a:pPr>
            <a:r>
              <a:rPr lang="en-US" sz="2100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0,0534% for Load column </a:t>
            </a:r>
          </a:p>
          <a:p>
            <a:pPr marL="0" lvl="0" indent="0" algn="ctr">
              <a:lnSpc>
                <a:spcPts val="2940"/>
              </a:lnSpc>
            </a:pPr>
            <a:r>
              <a:rPr lang="en-US" sz="2100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4,9656% for Solar column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01983" y="3191373"/>
            <a:ext cx="5217584" cy="1838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940"/>
              </a:lnSpc>
            </a:pPr>
            <a:r>
              <a:rPr lang="en-US" sz="2100" b="1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15 variables </a:t>
            </a:r>
            <a:r>
              <a:rPr lang="en-US" sz="2100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from which </a:t>
            </a:r>
            <a:r>
              <a:rPr lang="en-US" sz="2100" b="1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lang="en-US" sz="2100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were </a:t>
            </a:r>
            <a:r>
              <a:rPr lang="en-US" sz="2100" b="1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combined</a:t>
            </a:r>
            <a:r>
              <a:rPr lang="en-US" sz="2100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-US" sz="2100" b="1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1 deleted</a:t>
            </a:r>
            <a:r>
              <a:rPr lang="en-US" sz="2100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100" b="1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13 in total</a:t>
            </a:r>
          </a:p>
          <a:p>
            <a:pPr marL="0" lvl="0" indent="0" algn="just">
              <a:lnSpc>
                <a:spcPts val="2940"/>
              </a:lnSpc>
            </a:pPr>
            <a:endParaRPr lang="en-US" sz="2000" dirty="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2940"/>
              </a:lnSpc>
            </a:pPr>
            <a:r>
              <a:rPr lang="en-US" sz="2000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“</a:t>
            </a:r>
            <a:r>
              <a:rPr lang="en-US" sz="2000" dirty="0" err="1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Windoffshore</a:t>
            </a:r>
            <a:r>
              <a:rPr lang="en-US" sz="2000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” + “</a:t>
            </a:r>
            <a:r>
              <a:rPr lang="en-US" sz="2000" dirty="0" err="1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Windonshore</a:t>
            </a:r>
            <a:r>
              <a:rPr lang="en-US" sz="2000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”=“Wind”</a:t>
            </a:r>
          </a:p>
          <a:p>
            <a:pPr marL="0" lvl="0" indent="0" algn="just">
              <a:lnSpc>
                <a:spcPts val="2940"/>
              </a:lnSpc>
            </a:pPr>
            <a:r>
              <a:rPr lang="en-US" sz="2000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“Nuclear” was deleted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DE9212A-3269-A890-46BF-CC5EFA3BF0D6}"/>
              </a:ext>
            </a:extLst>
          </p:cNvPr>
          <p:cNvSpPr/>
          <p:nvPr/>
        </p:nvSpPr>
        <p:spPr>
          <a:xfrm>
            <a:off x="-1" y="0"/>
            <a:ext cx="6070875" cy="718810"/>
          </a:xfrm>
          <a:prstGeom prst="rect">
            <a:avLst/>
          </a:prstGeom>
          <a:solidFill>
            <a:srgbClr val="EBA40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E23A1DD-3445-C2C6-42CB-7A3A4570AB4B}"/>
              </a:ext>
            </a:extLst>
          </p:cNvPr>
          <p:cNvSpPr/>
          <p:nvPr/>
        </p:nvSpPr>
        <p:spPr>
          <a:xfrm>
            <a:off x="12192000" y="0"/>
            <a:ext cx="6096000" cy="718810"/>
          </a:xfrm>
          <a:prstGeom prst="rect">
            <a:avLst/>
          </a:prstGeom>
          <a:solidFill>
            <a:srgbClr val="DDDDD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25A33A8-3232-8C2F-BCBC-599CDB5DC0F7}"/>
              </a:ext>
            </a:extLst>
          </p:cNvPr>
          <p:cNvSpPr/>
          <p:nvPr/>
        </p:nvSpPr>
        <p:spPr>
          <a:xfrm>
            <a:off x="6095999" y="0"/>
            <a:ext cx="6070875" cy="718810"/>
          </a:xfrm>
          <a:prstGeom prst="rect">
            <a:avLst/>
          </a:prstGeom>
          <a:solidFill>
            <a:srgbClr val="DDDDD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17">
            <a:extLst>
              <a:ext uri="{FF2B5EF4-FFF2-40B4-BE49-F238E27FC236}">
                <a16:creationId xmlns:a16="http://schemas.microsoft.com/office/drawing/2014/main" id="{F08A3631-FAE0-F434-2ED0-14ADDCFF0570}"/>
              </a:ext>
            </a:extLst>
          </p:cNvPr>
          <p:cNvSpPr txBox="1"/>
          <p:nvPr/>
        </p:nvSpPr>
        <p:spPr>
          <a:xfrm>
            <a:off x="6299062" y="-434312"/>
            <a:ext cx="5689875" cy="1097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3600" b="1" dirty="0">
                <a:latin typeface="Telegraf Heavy"/>
                <a:ea typeface="Telegraf Heavy"/>
                <a:cs typeface="Telegraf Heavy"/>
                <a:sym typeface="Telegraf Heavy"/>
              </a:rPr>
              <a:t>Extreme value theory</a:t>
            </a:r>
          </a:p>
        </p:txBody>
      </p:sp>
      <p:sp>
        <p:nvSpPr>
          <p:cNvPr id="30" name="TextBox 17">
            <a:extLst>
              <a:ext uri="{FF2B5EF4-FFF2-40B4-BE49-F238E27FC236}">
                <a16:creationId xmlns:a16="http://schemas.microsoft.com/office/drawing/2014/main" id="{F30A487F-AB52-E96A-C547-13EEFB6E0061}"/>
              </a:ext>
            </a:extLst>
          </p:cNvPr>
          <p:cNvSpPr txBox="1"/>
          <p:nvPr/>
        </p:nvSpPr>
        <p:spPr>
          <a:xfrm>
            <a:off x="12369937" y="-434312"/>
            <a:ext cx="5689875" cy="1097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3600" b="1" dirty="0">
                <a:latin typeface="Telegraf Heavy"/>
                <a:ea typeface="Telegraf Heavy"/>
                <a:cs typeface="Telegraf Heavy"/>
                <a:sym typeface="Telegraf Heavy"/>
              </a:rPr>
              <a:t>Correlations</a:t>
            </a:r>
          </a:p>
        </p:txBody>
      </p:sp>
      <p:sp>
        <p:nvSpPr>
          <p:cNvPr id="31" name="TextBox 17">
            <a:extLst>
              <a:ext uri="{FF2B5EF4-FFF2-40B4-BE49-F238E27FC236}">
                <a16:creationId xmlns:a16="http://schemas.microsoft.com/office/drawing/2014/main" id="{C5B8858B-95B2-55D4-CAB8-BFE6A1E87FE8}"/>
              </a:ext>
            </a:extLst>
          </p:cNvPr>
          <p:cNvSpPr txBox="1"/>
          <p:nvPr/>
        </p:nvSpPr>
        <p:spPr>
          <a:xfrm>
            <a:off x="228187" y="-434312"/>
            <a:ext cx="5689875" cy="1097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3600" b="1" dirty="0">
                <a:solidFill>
                  <a:schemeClr val="bg1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Key data features</a:t>
            </a:r>
          </a:p>
        </p:txBody>
      </p:sp>
      <p:grpSp>
        <p:nvGrpSpPr>
          <p:cNvPr id="35" name="Group 14">
            <a:extLst>
              <a:ext uri="{FF2B5EF4-FFF2-40B4-BE49-F238E27FC236}">
                <a16:creationId xmlns:a16="http://schemas.microsoft.com/office/drawing/2014/main" id="{001FF9A8-6232-53A1-0069-2AD7C7018415}"/>
              </a:ext>
            </a:extLst>
          </p:cNvPr>
          <p:cNvGrpSpPr/>
          <p:nvPr/>
        </p:nvGrpSpPr>
        <p:grpSpPr>
          <a:xfrm>
            <a:off x="6477000" y="5738683"/>
            <a:ext cx="5489121" cy="4129217"/>
            <a:chOff x="0" y="0"/>
            <a:chExt cx="1432647" cy="1133469"/>
          </a:xfrm>
        </p:grpSpPr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338E8C50-A9CB-CAD5-2F77-86E8CCC7F51C}"/>
                </a:ext>
              </a:extLst>
            </p:cNvPr>
            <p:cNvSpPr/>
            <p:nvPr/>
          </p:nvSpPr>
          <p:spPr>
            <a:xfrm>
              <a:off x="0" y="0"/>
              <a:ext cx="1432647" cy="1133469"/>
            </a:xfrm>
            <a:custGeom>
              <a:avLst/>
              <a:gdLst/>
              <a:ahLst/>
              <a:cxnLst/>
              <a:rect l="l" t="t" r="r" b="b"/>
              <a:pathLst>
                <a:path w="1432647" h="1133469">
                  <a:moveTo>
                    <a:pt x="75652" y="0"/>
                  </a:moveTo>
                  <a:lnTo>
                    <a:pt x="1356995" y="0"/>
                  </a:lnTo>
                  <a:cubicBezTo>
                    <a:pt x="1377059" y="0"/>
                    <a:pt x="1396302" y="7970"/>
                    <a:pt x="1410489" y="22158"/>
                  </a:cubicBezTo>
                  <a:cubicBezTo>
                    <a:pt x="1424677" y="36346"/>
                    <a:pt x="1432647" y="55588"/>
                    <a:pt x="1432647" y="75652"/>
                  </a:cubicBezTo>
                  <a:lnTo>
                    <a:pt x="1432647" y="1057817"/>
                  </a:lnTo>
                  <a:cubicBezTo>
                    <a:pt x="1432647" y="1099598"/>
                    <a:pt x="1398777" y="1133469"/>
                    <a:pt x="1356995" y="1133469"/>
                  </a:cubicBezTo>
                  <a:lnTo>
                    <a:pt x="75652" y="1133469"/>
                  </a:lnTo>
                  <a:cubicBezTo>
                    <a:pt x="33871" y="1133469"/>
                    <a:pt x="0" y="1099598"/>
                    <a:pt x="0" y="1057817"/>
                  </a:cubicBezTo>
                  <a:lnTo>
                    <a:pt x="0" y="75652"/>
                  </a:lnTo>
                  <a:cubicBezTo>
                    <a:pt x="0" y="33871"/>
                    <a:pt x="33871" y="0"/>
                    <a:pt x="75652" y="0"/>
                  </a:cubicBezTo>
                  <a:close/>
                </a:path>
              </a:pathLst>
            </a:custGeom>
            <a:solidFill>
              <a:srgbClr val="DDDDDD"/>
            </a:solidFill>
          </p:spPr>
        </p:sp>
        <p:sp>
          <p:nvSpPr>
            <p:cNvPr id="37" name="TextBox 16">
              <a:extLst>
                <a:ext uri="{FF2B5EF4-FFF2-40B4-BE49-F238E27FC236}">
                  <a16:creationId xmlns:a16="http://schemas.microsoft.com/office/drawing/2014/main" id="{62A14730-13A1-2223-4FAB-6AFB7A874D3F}"/>
                </a:ext>
              </a:extLst>
            </p:cNvPr>
            <p:cNvSpPr txBox="1"/>
            <p:nvPr/>
          </p:nvSpPr>
          <p:spPr>
            <a:xfrm>
              <a:off x="0" y="-38100"/>
              <a:ext cx="1432647" cy="1171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38" name="TextBox 23">
            <a:extLst>
              <a:ext uri="{FF2B5EF4-FFF2-40B4-BE49-F238E27FC236}">
                <a16:creationId xmlns:a16="http://schemas.microsoft.com/office/drawing/2014/main" id="{93F26776-C781-FF0F-36C1-FD979FD61901}"/>
              </a:ext>
            </a:extLst>
          </p:cNvPr>
          <p:cNvSpPr txBox="1"/>
          <p:nvPr/>
        </p:nvSpPr>
        <p:spPr>
          <a:xfrm>
            <a:off x="6812807" y="6040223"/>
            <a:ext cx="4823953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40"/>
              </a:lnSpc>
            </a:pPr>
            <a:r>
              <a:rPr lang="en-US" sz="4200" b="1" dirty="0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Feature 4</a:t>
            </a:r>
          </a:p>
        </p:txBody>
      </p:sp>
      <p:sp>
        <p:nvSpPr>
          <p:cNvPr id="39" name="TextBox 25">
            <a:extLst>
              <a:ext uri="{FF2B5EF4-FFF2-40B4-BE49-F238E27FC236}">
                <a16:creationId xmlns:a16="http://schemas.microsoft.com/office/drawing/2014/main" id="{30F535A1-0A3A-652D-D65D-EBF2B96CB4DD}"/>
              </a:ext>
            </a:extLst>
          </p:cNvPr>
          <p:cNvSpPr txBox="1"/>
          <p:nvPr/>
        </p:nvSpPr>
        <p:spPr>
          <a:xfrm>
            <a:off x="6615992" y="7520356"/>
            <a:ext cx="5217584" cy="7262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940"/>
              </a:lnSpc>
            </a:pPr>
            <a:r>
              <a:rPr lang="en-US" sz="2100" b="1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Small </a:t>
            </a:r>
            <a:r>
              <a:rPr lang="en-US" sz="2100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number of extreme values and anomalies</a:t>
            </a:r>
            <a:endParaRPr lang="en-US" sz="2000" dirty="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3983A57-BE2C-D883-11DE-483565BD5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485" y="4477389"/>
            <a:ext cx="11492115" cy="28221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74EFF1-EFF2-5393-9526-DD9214892A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330" y="4217840"/>
            <a:ext cx="3315155" cy="2857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542EF79-7269-E5F6-A10C-22041B8AC0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685" y="7023915"/>
            <a:ext cx="3309800" cy="2971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FC70D30-A542-7C77-2C8C-303E494CA7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7570" y="7418716"/>
            <a:ext cx="11492115" cy="275398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CA99262-9D41-8A73-D8B1-3A89EF6DE2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330" y="2171700"/>
            <a:ext cx="3315156" cy="204237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BDA4ABF-DE56-F305-CC9B-D70D24168B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7145" y="2054302"/>
            <a:ext cx="4997707" cy="233057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E623717-A850-976A-A25B-47562D7BB7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0092" y="2035251"/>
            <a:ext cx="4902452" cy="2349621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5554683F-06C4-CD3E-3C0E-38A62E09C884}"/>
              </a:ext>
            </a:extLst>
          </p:cNvPr>
          <p:cNvSpPr/>
          <p:nvPr/>
        </p:nvSpPr>
        <p:spPr>
          <a:xfrm>
            <a:off x="-1" y="0"/>
            <a:ext cx="6070875" cy="718810"/>
          </a:xfrm>
          <a:prstGeom prst="rect">
            <a:avLst/>
          </a:prstGeom>
          <a:solidFill>
            <a:srgbClr val="DDDDD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0D81989-5356-A944-2E9E-6FD1299BB6D0}"/>
              </a:ext>
            </a:extLst>
          </p:cNvPr>
          <p:cNvSpPr/>
          <p:nvPr/>
        </p:nvSpPr>
        <p:spPr>
          <a:xfrm>
            <a:off x="12192000" y="0"/>
            <a:ext cx="6096000" cy="718810"/>
          </a:xfrm>
          <a:prstGeom prst="rect">
            <a:avLst/>
          </a:prstGeom>
          <a:solidFill>
            <a:srgbClr val="DDDDD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D9BD0BF-63E2-B836-4294-0D3F13ABD513}"/>
              </a:ext>
            </a:extLst>
          </p:cNvPr>
          <p:cNvSpPr/>
          <p:nvPr/>
        </p:nvSpPr>
        <p:spPr>
          <a:xfrm>
            <a:off x="6095999" y="0"/>
            <a:ext cx="6070875" cy="718810"/>
          </a:xfrm>
          <a:prstGeom prst="rect">
            <a:avLst/>
          </a:prstGeom>
          <a:solidFill>
            <a:srgbClr val="EBA40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17">
            <a:extLst>
              <a:ext uri="{FF2B5EF4-FFF2-40B4-BE49-F238E27FC236}">
                <a16:creationId xmlns:a16="http://schemas.microsoft.com/office/drawing/2014/main" id="{D9F50C0F-360B-E582-642C-0FA562E61C32}"/>
              </a:ext>
            </a:extLst>
          </p:cNvPr>
          <p:cNvSpPr txBox="1"/>
          <p:nvPr/>
        </p:nvSpPr>
        <p:spPr>
          <a:xfrm>
            <a:off x="6299062" y="-434312"/>
            <a:ext cx="5689875" cy="1097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3600" b="1" dirty="0">
                <a:solidFill>
                  <a:schemeClr val="bg1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Extreme value theory</a:t>
            </a:r>
          </a:p>
        </p:txBody>
      </p:sp>
      <p:sp>
        <p:nvSpPr>
          <p:cNvPr id="43" name="TextBox 17">
            <a:extLst>
              <a:ext uri="{FF2B5EF4-FFF2-40B4-BE49-F238E27FC236}">
                <a16:creationId xmlns:a16="http://schemas.microsoft.com/office/drawing/2014/main" id="{5B306193-4B4A-3A24-D08B-B33F6FD2A7E9}"/>
              </a:ext>
            </a:extLst>
          </p:cNvPr>
          <p:cNvSpPr txBox="1"/>
          <p:nvPr/>
        </p:nvSpPr>
        <p:spPr>
          <a:xfrm>
            <a:off x="12369937" y="-434312"/>
            <a:ext cx="5689875" cy="1097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3600" b="1" dirty="0">
                <a:latin typeface="Telegraf Heavy"/>
                <a:ea typeface="Telegraf Heavy"/>
                <a:cs typeface="Telegraf Heavy"/>
                <a:sym typeface="Telegraf Heavy"/>
              </a:rPr>
              <a:t>Correlations</a:t>
            </a:r>
          </a:p>
        </p:txBody>
      </p:sp>
      <p:sp>
        <p:nvSpPr>
          <p:cNvPr id="44" name="TextBox 17">
            <a:extLst>
              <a:ext uri="{FF2B5EF4-FFF2-40B4-BE49-F238E27FC236}">
                <a16:creationId xmlns:a16="http://schemas.microsoft.com/office/drawing/2014/main" id="{34BEC2CE-4983-55EF-B41A-9794EB3F0AA6}"/>
              </a:ext>
            </a:extLst>
          </p:cNvPr>
          <p:cNvSpPr txBox="1"/>
          <p:nvPr/>
        </p:nvSpPr>
        <p:spPr>
          <a:xfrm>
            <a:off x="228187" y="-434312"/>
            <a:ext cx="5689875" cy="1097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3600" b="1" dirty="0">
                <a:latin typeface="Telegraf Heavy"/>
                <a:ea typeface="Telegraf Heavy"/>
                <a:cs typeface="Telegraf Heavy"/>
                <a:sym typeface="Telegraf Heavy"/>
              </a:rPr>
              <a:t>Key data features</a:t>
            </a:r>
          </a:p>
        </p:txBody>
      </p:sp>
    </p:spTree>
    <p:extLst>
      <p:ext uri="{BB962C8B-B14F-4D97-AF65-F5344CB8AC3E}">
        <p14:creationId xmlns:p14="http://schemas.microsoft.com/office/powerpoint/2010/main" val="448502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00441-DCD5-E1B8-625A-84185D4A4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1822F4A-EAC5-B29D-382E-FAAA590B104F}"/>
              </a:ext>
            </a:extLst>
          </p:cNvPr>
          <p:cNvGrpSpPr/>
          <p:nvPr/>
        </p:nvGrpSpPr>
        <p:grpSpPr>
          <a:xfrm>
            <a:off x="1585214" y="1535855"/>
            <a:ext cx="1462910" cy="1459207"/>
            <a:chOff x="0" y="0"/>
            <a:chExt cx="406400" cy="40537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2296177-2874-F1AA-E7FF-89D5646D747D}"/>
                </a:ext>
              </a:extLst>
            </p:cNvPr>
            <p:cNvSpPr/>
            <p:nvPr/>
          </p:nvSpPr>
          <p:spPr>
            <a:xfrm>
              <a:off x="0" y="0"/>
              <a:ext cx="406400" cy="405371"/>
            </a:xfrm>
            <a:custGeom>
              <a:avLst/>
              <a:gdLst/>
              <a:ahLst/>
              <a:cxnLst/>
              <a:rect l="l" t="t" r="r" b="b"/>
              <a:pathLst>
                <a:path w="406400" h="405371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10958E1-93E3-E5A4-7715-9038AC12EC2D}"/>
                </a:ext>
              </a:extLst>
            </p:cNvPr>
            <p:cNvSpPr txBox="1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CA67B0E2-91C3-82C2-A8D1-3BAD91638876}"/>
              </a:ext>
            </a:extLst>
          </p:cNvPr>
          <p:cNvGrpSpPr/>
          <p:nvPr/>
        </p:nvGrpSpPr>
        <p:grpSpPr>
          <a:xfrm>
            <a:off x="1585214" y="4413897"/>
            <a:ext cx="1462910" cy="1459207"/>
            <a:chOff x="0" y="0"/>
            <a:chExt cx="406400" cy="40537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9B6F83F-D4C5-DE39-2CCB-E5B57385BDEF}"/>
                </a:ext>
              </a:extLst>
            </p:cNvPr>
            <p:cNvSpPr/>
            <p:nvPr/>
          </p:nvSpPr>
          <p:spPr>
            <a:xfrm>
              <a:off x="0" y="0"/>
              <a:ext cx="406400" cy="405371"/>
            </a:xfrm>
            <a:custGeom>
              <a:avLst/>
              <a:gdLst/>
              <a:ahLst/>
              <a:cxnLst/>
              <a:rect l="l" t="t" r="r" b="b"/>
              <a:pathLst>
                <a:path w="406400" h="405371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7C1C0D8-538A-615A-4A6B-2BB5BC745309}"/>
                </a:ext>
              </a:extLst>
            </p:cNvPr>
            <p:cNvSpPr txBox="1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AA425FBE-7899-9D70-92D3-FBC69EB01BC3}"/>
              </a:ext>
            </a:extLst>
          </p:cNvPr>
          <p:cNvGrpSpPr/>
          <p:nvPr/>
        </p:nvGrpSpPr>
        <p:grpSpPr>
          <a:xfrm>
            <a:off x="1585214" y="7291938"/>
            <a:ext cx="1462910" cy="1459207"/>
            <a:chOff x="0" y="0"/>
            <a:chExt cx="406400" cy="405371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FC585B8-3BF0-4FED-2E08-3E720A3F37E5}"/>
                </a:ext>
              </a:extLst>
            </p:cNvPr>
            <p:cNvSpPr/>
            <p:nvPr/>
          </p:nvSpPr>
          <p:spPr>
            <a:xfrm>
              <a:off x="0" y="0"/>
              <a:ext cx="406400" cy="405371"/>
            </a:xfrm>
            <a:custGeom>
              <a:avLst/>
              <a:gdLst/>
              <a:ahLst/>
              <a:cxnLst/>
              <a:rect l="l" t="t" r="r" b="b"/>
              <a:pathLst>
                <a:path w="406400" h="405371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4C902ED2-8FD6-95D4-0021-38B916F656EC}"/>
                </a:ext>
              </a:extLst>
            </p:cNvPr>
            <p:cNvSpPr txBox="1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A1C26B93-F06D-4144-0685-C5386CC4C3CA}"/>
              </a:ext>
            </a:extLst>
          </p:cNvPr>
          <p:cNvSpPr txBox="1"/>
          <p:nvPr/>
        </p:nvSpPr>
        <p:spPr>
          <a:xfrm>
            <a:off x="1718704" y="1879797"/>
            <a:ext cx="1195929" cy="714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08"/>
              </a:lnSpc>
            </a:pPr>
            <a:r>
              <a:rPr lang="en-US" sz="4340" b="1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01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8D84B65-BB24-FD1C-0CCF-3A764E23EBD7}"/>
              </a:ext>
            </a:extLst>
          </p:cNvPr>
          <p:cNvSpPr txBox="1"/>
          <p:nvPr/>
        </p:nvSpPr>
        <p:spPr>
          <a:xfrm>
            <a:off x="1718704" y="4757839"/>
            <a:ext cx="1195929" cy="714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08"/>
              </a:lnSpc>
            </a:pPr>
            <a:r>
              <a:rPr lang="en-US" sz="4340" b="1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02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9DB7B59-6A86-2CF1-F4B5-9C265C8C15CE}"/>
              </a:ext>
            </a:extLst>
          </p:cNvPr>
          <p:cNvSpPr txBox="1"/>
          <p:nvPr/>
        </p:nvSpPr>
        <p:spPr>
          <a:xfrm>
            <a:off x="1718704" y="7635880"/>
            <a:ext cx="1195929" cy="714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08"/>
              </a:lnSpc>
            </a:pPr>
            <a:r>
              <a:rPr lang="en-US" sz="4340" b="1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03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585B10B-4A06-B7A1-0BF5-868951889C16}"/>
              </a:ext>
            </a:extLst>
          </p:cNvPr>
          <p:cNvSpPr txBox="1"/>
          <p:nvPr/>
        </p:nvSpPr>
        <p:spPr>
          <a:xfrm>
            <a:off x="3616180" y="1583167"/>
            <a:ext cx="427593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35"/>
              </a:lnSpc>
            </a:pPr>
            <a:r>
              <a:rPr lang="en-US" sz="4029" b="1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Insight 1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DD6E4FC-2234-510D-85EE-F691D5DC01EE}"/>
              </a:ext>
            </a:extLst>
          </p:cNvPr>
          <p:cNvSpPr txBox="1"/>
          <p:nvPr/>
        </p:nvSpPr>
        <p:spPr>
          <a:xfrm>
            <a:off x="3616180" y="4453781"/>
            <a:ext cx="427593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35"/>
              </a:lnSpc>
            </a:pPr>
            <a:r>
              <a:rPr lang="en-US" sz="4029" b="1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Insight 2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AD44761-7026-62B0-7AC8-858D3A611EF0}"/>
              </a:ext>
            </a:extLst>
          </p:cNvPr>
          <p:cNvSpPr txBox="1"/>
          <p:nvPr/>
        </p:nvSpPr>
        <p:spPr>
          <a:xfrm>
            <a:off x="3616180" y="7339250"/>
            <a:ext cx="427593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35"/>
              </a:lnSpc>
            </a:pPr>
            <a:r>
              <a:rPr lang="en-US" sz="4029" b="1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Insight 3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FA38DB7-B398-0961-1AC3-1A88DFE95D64}"/>
              </a:ext>
            </a:extLst>
          </p:cNvPr>
          <p:cNvSpPr txBox="1"/>
          <p:nvPr/>
        </p:nvSpPr>
        <p:spPr>
          <a:xfrm>
            <a:off x="3616180" y="2205990"/>
            <a:ext cx="5527820" cy="341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0"/>
              </a:lnSpc>
            </a:pPr>
            <a:r>
              <a:rPr lang="en-US" sz="2014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A few</a:t>
            </a:r>
            <a:r>
              <a:rPr lang="ru-RU" sz="2014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014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strong correlated features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656A35AF-3214-C142-6797-13121DA70373}"/>
              </a:ext>
            </a:extLst>
          </p:cNvPr>
          <p:cNvSpPr txBox="1"/>
          <p:nvPr/>
        </p:nvSpPr>
        <p:spPr>
          <a:xfrm>
            <a:off x="3616180" y="5075616"/>
            <a:ext cx="5527820" cy="1059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0"/>
              </a:lnSpc>
            </a:pPr>
            <a:r>
              <a:rPr lang="en-US" sz="2014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“Other” category is quite important, could be some unobservable data there like temperature or holidays.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0A4AA508-D20E-603A-753A-B9B7278451EB}"/>
              </a:ext>
            </a:extLst>
          </p:cNvPr>
          <p:cNvSpPr txBox="1"/>
          <p:nvPr/>
        </p:nvSpPr>
        <p:spPr>
          <a:xfrm>
            <a:off x="3616180" y="7962073"/>
            <a:ext cx="5527820" cy="700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0"/>
              </a:lnSpc>
            </a:pPr>
            <a:r>
              <a:rPr lang="en-US" sz="2014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Some correlations are negative, means that these features replace each other</a:t>
            </a:r>
          </a:p>
        </p:txBody>
      </p: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B4EDAD6-6C59-1998-5494-0DF9233773BB}"/>
              </a:ext>
            </a:extLst>
          </p:cNvPr>
          <p:cNvGrpSpPr/>
          <p:nvPr/>
        </p:nvGrpSpPr>
        <p:grpSpPr>
          <a:xfrm>
            <a:off x="9144000" y="952500"/>
            <a:ext cx="8991600" cy="5410200"/>
            <a:chOff x="0" y="0"/>
            <a:chExt cx="2137363" cy="2167467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EC8142F1-A1FB-BD94-EC1F-C338E30AAD40}"/>
                </a:ext>
              </a:extLst>
            </p:cNvPr>
            <p:cNvSpPr/>
            <p:nvPr/>
          </p:nvSpPr>
          <p:spPr>
            <a:xfrm>
              <a:off x="0" y="0"/>
              <a:ext cx="2137363" cy="2167467"/>
            </a:xfrm>
            <a:custGeom>
              <a:avLst/>
              <a:gdLst/>
              <a:ahLst/>
              <a:cxnLst/>
              <a:rect l="l" t="t" r="r" b="b"/>
              <a:pathLst>
                <a:path w="2137363" h="2167467">
                  <a:moveTo>
                    <a:pt x="48654" y="0"/>
                  </a:moveTo>
                  <a:lnTo>
                    <a:pt x="2088710" y="0"/>
                  </a:lnTo>
                  <a:cubicBezTo>
                    <a:pt x="2115580" y="0"/>
                    <a:pt x="2137363" y="21783"/>
                    <a:pt x="2137363" y="48654"/>
                  </a:cubicBezTo>
                  <a:lnTo>
                    <a:pt x="2137363" y="2118813"/>
                  </a:lnTo>
                  <a:cubicBezTo>
                    <a:pt x="2137363" y="2145684"/>
                    <a:pt x="2115580" y="2167467"/>
                    <a:pt x="2088710" y="2167467"/>
                  </a:cubicBezTo>
                  <a:lnTo>
                    <a:pt x="48654" y="2167467"/>
                  </a:lnTo>
                  <a:cubicBezTo>
                    <a:pt x="21783" y="2167467"/>
                    <a:pt x="0" y="2145684"/>
                    <a:pt x="0" y="2118813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close/>
                </a:path>
              </a:pathLst>
            </a:custGeom>
            <a:solidFill>
              <a:srgbClr val="DDDDDD"/>
            </a:solidFill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2941F0D4-50C2-9BCE-806C-809FB4CF2AA0}"/>
                </a:ext>
              </a:extLst>
            </p:cNvPr>
            <p:cNvSpPr txBox="1"/>
            <p:nvPr/>
          </p:nvSpPr>
          <p:spPr>
            <a:xfrm>
              <a:off x="0" y="-38100"/>
              <a:ext cx="2137363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24" name="Group 5">
            <a:extLst>
              <a:ext uri="{FF2B5EF4-FFF2-40B4-BE49-F238E27FC236}">
                <a16:creationId xmlns:a16="http://schemas.microsoft.com/office/drawing/2014/main" id="{44B62FDD-F9E7-F887-311A-6ED81BF99A9D}"/>
              </a:ext>
            </a:extLst>
          </p:cNvPr>
          <p:cNvGrpSpPr/>
          <p:nvPr/>
        </p:nvGrpSpPr>
        <p:grpSpPr>
          <a:xfrm>
            <a:off x="25125" y="25508"/>
            <a:ext cx="5689875" cy="718810"/>
            <a:chOff x="0" y="0"/>
            <a:chExt cx="2998640" cy="1133469"/>
          </a:xfrm>
        </p:grpSpPr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7CD37A38-0818-28C2-0223-B1202684C6B9}"/>
                </a:ext>
              </a:extLst>
            </p:cNvPr>
            <p:cNvSpPr/>
            <p:nvPr/>
          </p:nvSpPr>
          <p:spPr>
            <a:xfrm>
              <a:off x="0" y="0"/>
              <a:ext cx="2998640" cy="1133469"/>
            </a:xfrm>
            <a:custGeom>
              <a:avLst/>
              <a:gdLst/>
              <a:ahLst/>
              <a:cxnLst/>
              <a:rect l="l" t="t" r="r" b="b"/>
              <a:pathLst>
                <a:path w="2998640" h="1133469">
                  <a:moveTo>
                    <a:pt x="36144" y="0"/>
                  </a:moveTo>
                  <a:lnTo>
                    <a:pt x="2962496" y="0"/>
                  </a:lnTo>
                  <a:cubicBezTo>
                    <a:pt x="2972082" y="0"/>
                    <a:pt x="2981275" y="3808"/>
                    <a:pt x="2988054" y="10586"/>
                  </a:cubicBezTo>
                  <a:cubicBezTo>
                    <a:pt x="2994832" y="17365"/>
                    <a:pt x="2998640" y="26558"/>
                    <a:pt x="2998640" y="36144"/>
                  </a:cubicBezTo>
                  <a:lnTo>
                    <a:pt x="2998640" y="1097325"/>
                  </a:lnTo>
                  <a:cubicBezTo>
                    <a:pt x="2998640" y="1106911"/>
                    <a:pt x="2994832" y="1116104"/>
                    <a:pt x="2988054" y="1122883"/>
                  </a:cubicBezTo>
                  <a:cubicBezTo>
                    <a:pt x="2981275" y="1129661"/>
                    <a:pt x="2972082" y="1133469"/>
                    <a:pt x="2962496" y="1133469"/>
                  </a:cubicBezTo>
                  <a:lnTo>
                    <a:pt x="36144" y="1133469"/>
                  </a:lnTo>
                  <a:cubicBezTo>
                    <a:pt x="26558" y="1133469"/>
                    <a:pt x="17365" y="1129661"/>
                    <a:pt x="10586" y="1122883"/>
                  </a:cubicBezTo>
                  <a:cubicBezTo>
                    <a:pt x="3808" y="1116104"/>
                    <a:pt x="0" y="1106911"/>
                    <a:pt x="0" y="1097325"/>
                  </a:cubicBezTo>
                  <a:lnTo>
                    <a:pt x="0" y="36144"/>
                  </a:lnTo>
                  <a:cubicBezTo>
                    <a:pt x="0" y="26558"/>
                    <a:pt x="3808" y="17365"/>
                    <a:pt x="10586" y="10586"/>
                  </a:cubicBezTo>
                  <a:cubicBezTo>
                    <a:pt x="17365" y="3808"/>
                    <a:pt x="26558" y="0"/>
                    <a:pt x="36144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610F4ABA-BEAE-6762-6DD0-BB6A2433498D}"/>
                </a:ext>
              </a:extLst>
            </p:cNvPr>
            <p:cNvSpPr txBox="1"/>
            <p:nvPr/>
          </p:nvSpPr>
          <p:spPr>
            <a:xfrm>
              <a:off x="0" y="-38100"/>
              <a:ext cx="2998640" cy="1171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27" name="TextBox 17">
            <a:extLst>
              <a:ext uri="{FF2B5EF4-FFF2-40B4-BE49-F238E27FC236}">
                <a16:creationId xmlns:a16="http://schemas.microsoft.com/office/drawing/2014/main" id="{1FFC6540-8165-9561-5E3F-6AF664F530EC}"/>
              </a:ext>
            </a:extLst>
          </p:cNvPr>
          <p:cNvSpPr txBox="1"/>
          <p:nvPr/>
        </p:nvSpPr>
        <p:spPr>
          <a:xfrm>
            <a:off x="0" y="-394071"/>
            <a:ext cx="5689875" cy="1097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3600" b="1" dirty="0">
                <a:solidFill>
                  <a:srgbClr val="F5F5F5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Correlation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240306C-418D-978F-3F75-30E419662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1104900"/>
            <a:ext cx="8579291" cy="5092962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3A767CED-7392-1750-A9BE-73954BF34E23}"/>
              </a:ext>
            </a:extLst>
          </p:cNvPr>
          <p:cNvSpPr/>
          <p:nvPr/>
        </p:nvSpPr>
        <p:spPr>
          <a:xfrm>
            <a:off x="-1" y="0"/>
            <a:ext cx="6070875" cy="718810"/>
          </a:xfrm>
          <a:prstGeom prst="rect">
            <a:avLst/>
          </a:prstGeom>
          <a:solidFill>
            <a:srgbClr val="DDDDD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D9D70AD-BBE7-AD98-99DB-F815F6E32557}"/>
              </a:ext>
            </a:extLst>
          </p:cNvPr>
          <p:cNvSpPr/>
          <p:nvPr/>
        </p:nvSpPr>
        <p:spPr>
          <a:xfrm>
            <a:off x="12192000" y="0"/>
            <a:ext cx="6096000" cy="718810"/>
          </a:xfrm>
          <a:prstGeom prst="rect">
            <a:avLst/>
          </a:prstGeom>
          <a:solidFill>
            <a:srgbClr val="EBA40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9032E50-BFCC-EE38-EB89-05C4D77E926C}"/>
              </a:ext>
            </a:extLst>
          </p:cNvPr>
          <p:cNvSpPr/>
          <p:nvPr/>
        </p:nvSpPr>
        <p:spPr>
          <a:xfrm>
            <a:off x="6095999" y="0"/>
            <a:ext cx="6070875" cy="718810"/>
          </a:xfrm>
          <a:prstGeom prst="rect">
            <a:avLst/>
          </a:prstGeom>
          <a:solidFill>
            <a:srgbClr val="DDDDD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17">
            <a:extLst>
              <a:ext uri="{FF2B5EF4-FFF2-40B4-BE49-F238E27FC236}">
                <a16:creationId xmlns:a16="http://schemas.microsoft.com/office/drawing/2014/main" id="{B1833184-A669-4E1E-EED0-B44492947EB9}"/>
              </a:ext>
            </a:extLst>
          </p:cNvPr>
          <p:cNvSpPr txBox="1"/>
          <p:nvPr/>
        </p:nvSpPr>
        <p:spPr>
          <a:xfrm>
            <a:off x="6299062" y="-434312"/>
            <a:ext cx="5689875" cy="1097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3600" b="1" dirty="0">
                <a:latin typeface="Telegraf Heavy"/>
                <a:ea typeface="Telegraf Heavy"/>
                <a:cs typeface="Telegraf Heavy"/>
                <a:sym typeface="Telegraf Heavy"/>
              </a:rPr>
              <a:t>Extreme value theory</a:t>
            </a:r>
          </a:p>
        </p:txBody>
      </p:sp>
      <p:sp>
        <p:nvSpPr>
          <p:cNvPr id="34" name="TextBox 17">
            <a:extLst>
              <a:ext uri="{FF2B5EF4-FFF2-40B4-BE49-F238E27FC236}">
                <a16:creationId xmlns:a16="http://schemas.microsoft.com/office/drawing/2014/main" id="{329B079D-DE3F-77ED-CB46-8BA3B8738CFF}"/>
              </a:ext>
            </a:extLst>
          </p:cNvPr>
          <p:cNvSpPr txBox="1"/>
          <p:nvPr/>
        </p:nvSpPr>
        <p:spPr>
          <a:xfrm>
            <a:off x="12369937" y="-434312"/>
            <a:ext cx="5689875" cy="1097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3600" b="1" dirty="0">
                <a:solidFill>
                  <a:schemeClr val="bg1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Correlations</a:t>
            </a:r>
          </a:p>
        </p:txBody>
      </p:sp>
      <p:sp>
        <p:nvSpPr>
          <p:cNvPr id="35" name="TextBox 17">
            <a:extLst>
              <a:ext uri="{FF2B5EF4-FFF2-40B4-BE49-F238E27FC236}">
                <a16:creationId xmlns:a16="http://schemas.microsoft.com/office/drawing/2014/main" id="{57DCF977-7CB5-2E8C-72EF-B9D64BACB062}"/>
              </a:ext>
            </a:extLst>
          </p:cNvPr>
          <p:cNvSpPr txBox="1"/>
          <p:nvPr/>
        </p:nvSpPr>
        <p:spPr>
          <a:xfrm>
            <a:off x="228187" y="-434312"/>
            <a:ext cx="5689875" cy="1097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3600" b="1" dirty="0">
                <a:latin typeface="Telegraf Heavy"/>
                <a:ea typeface="Telegraf Heavy"/>
                <a:cs typeface="Telegraf Heavy"/>
                <a:sym typeface="Telegraf Heavy"/>
              </a:rPr>
              <a:t>Key data features</a:t>
            </a:r>
          </a:p>
        </p:txBody>
      </p:sp>
    </p:spTree>
    <p:extLst>
      <p:ext uri="{BB962C8B-B14F-4D97-AF65-F5344CB8AC3E}">
        <p14:creationId xmlns:p14="http://schemas.microsoft.com/office/powerpoint/2010/main" val="4000625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879982"/>
            <a:ext cx="5066791" cy="6378318"/>
            <a:chOff x="0" y="0"/>
            <a:chExt cx="1334464" cy="16798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34464" cy="1679886"/>
            </a:xfrm>
            <a:custGeom>
              <a:avLst/>
              <a:gdLst/>
              <a:ahLst/>
              <a:cxnLst/>
              <a:rect l="l" t="t" r="r" b="b"/>
              <a:pathLst>
                <a:path w="1334464" h="1679886">
                  <a:moveTo>
                    <a:pt x="77927" y="0"/>
                  </a:moveTo>
                  <a:lnTo>
                    <a:pt x="1256537" y="0"/>
                  </a:lnTo>
                  <a:cubicBezTo>
                    <a:pt x="1277204" y="0"/>
                    <a:pt x="1297025" y="8210"/>
                    <a:pt x="1311639" y="22824"/>
                  </a:cubicBezTo>
                  <a:cubicBezTo>
                    <a:pt x="1326254" y="37438"/>
                    <a:pt x="1334464" y="57259"/>
                    <a:pt x="1334464" y="77927"/>
                  </a:cubicBezTo>
                  <a:lnTo>
                    <a:pt x="1334464" y="1601960"/>
                  </a:lnTo>
                  <a:cubicBezTo>
                    <a:pt x="1334464" y="1622627"/>
                    <a:pt x="1326254" y="1642448"/>
                    <a:pt x="1311639" y="1657062"/>
                  </a:cubicBezTo>
                  <a:cubicBezTo>
                    <a:pt x="1297025" y="1671676"/>
                    <a:pt x="1277204" y="1679886"/>
                    <a:pt x="1256537" y="1679886"/>
                  </a:cubicBezTo>
                  <a:lnTo>
                    <a:pt x="77927" y="1679886"/>
                  </a:lnTo>
                  <a:cubicBezTo>
                    <a:pt x="57259" y="1679886"/>
                    <a:pt x="37438" y="1671676"/>
                    <a:pt x="22824" y="1657062"/>
                  </a:cubicBezTo>
                  <a:cubicBezTo>
                    <a:pt x="8210" y="1642448"/>
                    <a:pt x="0" y="1622627"/>
                    <a:pt x="0" y="1601960"/>
                  </a:cubicBezTo>
                  <a:lnTo>
                    <a:pt x="0" y="77927"/>
                  </a:lnTo>
                  <a:cubicBezTo>
                    <a:pt x="0" y="57259"/>
                    <a:pt x="8210" y="37438"/>
                    <a:pt x="22824" y="22824"/>
                  </a:cubicBezTo>
                  <a:cubicBezTo>
                    <a:pt x="37438" y="8210"/>
                    <a:pt x="57259" y="0"/>
                    <a:pt x="77927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34464" cy="171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10604" y="2879982"/>
            <a:ext cx="5066791" cy="6378318"/>
            <a:chOff x="0" y="0"/>
            <a:chExt cx="1334464" cy="16798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34464" cy="1679886"/>
            </a:xfrm>
            <a:custGeom>
              <a:avLst/>
              <a:gdLst/>
              <a:ahLst/>
              <a:cxnLst/>
              <a:rect l="l" t="t" r="r" b="b"/>
              <a:pathLst>
                <a:path w="1334464" h="1679886">
                  <a:moveTo>
                    <a:pt x="77927" y="0"/>
                  </a:moveTo>
                  <a:lnTo>
                    <a:pt x="1256537" y="0"/>
                  </a:lnTo>
                  <a:cubicBezTo>
                    <a:pt x="1277204" y="0"/>
                    <a:pt x="1297025" y="8210"/>
                    <a:pt x="1311639" y="22824"/>
                  </a:cubicBezTo>
                  <a:cubicBezTo>
                    <a:pt x="1326254" y="37438"/>
                    <a:pt x="1334464" y="57259"/>
                    <a:pt x="1334464" y="77927"/>
                  </a:cubicBezTo>
                  <a:lnTo>
                    <a:pt x="1334464" y="1601960"/>
                  </a:lnTo>
                  <a:cubicBezTo>
                    <a:pt x="1334464" y="1622627"/>
                    <a:pt x="1326254" y="1642448"/>
                    <a:pt x="1311639" y="1657062"/>
                  </a:cubicBezTo>
                  <a:cubicBezTo>
                    <a:pt x="1297025" y="1671676"/>
                    <a:pt x="1277204" y="1679886"/>
                    <a:pt x="1256537" y="1679886"/>
                  </a:cubicBezTo>
                  <a:lnTo>
                    <a:pt x="77927" y="1679886"/>
                  </a:lnTo>
                  <a:cubicBezTo>
                    <a:pt x="57259" y="1679886"/>
                    <a:pt x="37438" y="1671676"/>
                    <a:pt x="22824" y="1657062"/>
                  </a:cubicBezTo>
                  <a:cubicBezTo>
                    <a:pt x="8210" y="1642448"/>
                    <a:pt x="0" y="1622627"/>
                    <a:pt x="0" y="1601960"/>
                  </a:cubicBezTo>
                  <a:lnTo>
                    <a:pt x="0" y="77927"/>
                  </a:lnTo>
                  <a:cubicBezTo>
                    <a:pt x="0" y="57259"/>
                    <a:pt x="8210" y="37438"/>
                    <a:pt x="22824" y="22824"/>
                  </a:cubicBezTo>
                  <a:cubicBezTo>
                    <a:pt x="37438" y="8210"/>
                    <a:pt x="57259" y="0"/>
                    <a:pt x="77927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334464" cy="171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91746" y="2879982"/>
            <a:ext cx="5066791" cy="6378318"/>
            <a:chOff x="0" y="0"/>
            <a:chExt cx="1334464" cy="16798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34464" cy="1679886"/>
            </a:xfrm>
            <a:custGeom>
              <a:avLst/>
              <a:gdLst/>
              <a:ahLst/>
              <a:cxnLst/>
              <a:rect l="l" t="t" r="r" b="b"/>
              <a:pathLst>
                <a:path w="1334464" h="1679886">
                  <a:moveTo>
                    <a:pt x="77927" y="0"/>
                  </a:moveTo>
                  <a:lnTo>
                    <a:pt x="1256537" y="0"/>
                  </a:lnTo>
                  <a:cubicBezTo>
                    <a:pt x="1277204" y="0"/>
                    <a:pt x="1297025" y="8210"/>
                    <a:pt x="1311639" y="22824"/>
                  </a:cubicBezTo>
                  <a:cubicBezTo>
                    <a:pt x="1326254" y="37438"/>
                    <a:pt x="1334464" y="57259"/>
                    <a:pt x="1334464" y="77927"/>
                  </a:cubicBezTo>
                  <a:lnTo>
                    <a:pt x="1334464" y="1601960"/>
                  </a:lnTo>
                  <a:cubicBezTo>
                    <a:pt x="1334464" y="1622627"/>
                    <a:pt x="1326254" y="1642448"/>
                    <a:pt x="1311639" y="1657062"/>
                  </a:cubicBezTo>
                  <a:cubicBezTo>
                    <a:pt x="1297025" y="1671676"/>
                    <a:pt x="1277204" y="1679886"/>
                    <a:pt x="1256537" y="1679886"/>
                  </a:cubicBezTo>
                  <a:lnTo>
                    <a:pt x="77927" y="1679886"/>
                  </a:lnTo>
                  <a:cubicBezTo>
                    <a:pt x="57259" y="1679886"/>
                    <a:pt x="37438" y="1671676"/>
                    <a:pt x="22824" y="1657062"/>
                  </a:cubicBezTo>
                  <a:cubicBezTo>
                    <a:pt x="8210" y="1642448"/>
                    <a:pt x="0" y="1622627"/>
                    <a:pt x="0" y="1601960"/>
                  </a:cubicBezTo>
                  <a:lnTo>
                    <a:pt x="0" y="77927"/>
                  </a:lnTo>
                  <a:cubicBezTo>
                    <a:pt x="0" y="57259"/>
                    <a:pt x="8210" y="37438"/>
                    <a:pt x="22824" y="22824"/>
                  </a:cubicBezTo>
                  <a:cubicBezTo>
                    <a:pt x="37438" y="8210"/>
                    <a:pt x="57259" y="0"/>
                    <a:pt x="77927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34464" cy="17179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618334" y="1938610"/>
            <a:ext cx="1887522" cy="1882744"/>
            <a:chOff x="0" y="0"/>
            <a:chExt cx="406400" cy="40537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06400" cy="405371"/>
            </a:xfrm>
            <a:custGeom>
              <a:avLst/>
              <a:gdLst/>
              <a:ahLst/>
              <a:cxnLst/>
              <a:rect l="l" t="t" r="r" b="b"/>
              <a:pathLst>
                <a:path w="406400" h="405371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200239" y="1938610"/>
            <a:ext cx="1887522" cy="1882744"/>
            <a:chOff x="0" y="0"/>
            <a:chExt cx="406400" cy="40537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06400" cy="405371"/>
            </a:xfrm>
            <a:custGeom>
              <a:avLst/>
              <a:gdLst/>
              <a:ahLst/>
              <a:cxnLst/>
              <a:rect l="l" t="t" r="r" b="b"/>
              <a:pathLst>
                <a:path w="406400" h="405371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781065" y="1938610"/>
            <a:ext cx="1887522" cy="1882744"/>
            <a:chOff x="0" y="0"/>
            <a:chExt cx="406400" cy="40537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06400" cy="405371"/>
            </a:xfrm>
            <a:custGeom>
              <a:avLst/>
              <a:gdLst/>
              <a:ahLst/>
              <a:cxnLst/>
              <a:rect l="l" t="t" r="r" b="b"/>
              <a:pathLst>
                <a:path w="406400" h="405371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333815" y="5105400"/>
            <a:ext cx="4456560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40"/>
              </a:lnSpc>
            </a:pPr>
            <a:r>
              <a:rPr lang="en-US" sz="4200" b="1" u="none" dirty="0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Base models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32586" y="6017027"/>
            <a:ext cx="3659018" cy="849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</a:pPr>
            <a:r>
              <a:rPr lang="en-US" sz="2400" u="none" dirty="0" err="1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XGBoost</a:t>
            </a:r>
            <a:r>
              <a:rPr lang="en-US" sz="2400" u="none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00" u="none" dirty="0" err="1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LightGBM</a:t>
            </a:r>
            <a:r>
              <a:rPr lang="en-US" sz="2400" u="none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2400" u="none" dirty="0" err="1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CatBoost</a:t>
            </a:r>
            <a:endParaRPr lang="en-US" sz="2400" u="none" dirty="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915720" y="4775498"/>
            <a:ext cx="4456560" cy="128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40"/>
              </a:lnSpc>
            </a:pPr>
            <a:r>
              <a:rPr lang="en-US" sz="4200" b="1" u="none" dirty="0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Deep learning models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314491" y="6017027"/>
            <a:ext cx="3659018" cy="413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</a:pPr>
            <a:r>
              <a:rPr lang="en-US" sz="2400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RNN, LSTM, GRU.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496546" y="5105400"/>
            <a:ext cx="4456560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40"/>
              </a:lnSpc>
            </a:pPr>
            <a:r>
              <a:rPr lang="en-US" sz="4200" b="1" u="none" dirty="0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Conclusion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895317" y="6017027"/>
            <a:ext cx="3659018" cy="849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</a:pPr>
            <a:r>
              <a:rPr lang="en-US" sz="2400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Results and future improvements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790571" y="2389445"/>
            <a:ext cx="154305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20"/>
              </a:lnSpc>
            </a:pPr>
            <a:r>
              <a:rPr lang="en-US" sz="5600" b="1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72475" y="2389445"/>
            <a:ext cx="154305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20"/>
              </a:lnSpc>
            </a:pPr>
            <a:r>
              <a:rPr lang="en-US" sz="5600" b="1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953301" y="2389445"/>
            <a:ext cx="154305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20"/>
              </a:lnSpc>
            </a:pPr>
            <a:r>
              <a:rPr lang="en-US" sz="5600" b="1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1B4A5E73-8918-6808-2BE0-C560160CCF91}"/>
              </a:ext>
            </a:extLst>
          </p:cNvPr>
          <p:cNvGrpSpPr/>
          <p:nvPr/>
        </p:nvGrpSpPr>
        <p:grpSpPr>
          <a:xfrm>
            <a:off x="25125" y="25508"/>
            <a:ext cx="5689875" cy="718810"/>
            <a:chOff x="0" y="0"/>
            <a:chExt cx="2998640" cy="1133469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BE910BB1-FFA2-C49E-CFDF-C16721C97246}"/>
                </a:ext>
              </a:extLst>
            </p:cNvPr>
            <p:cNvSpPr/>
            <p:nvPr/>
          </p:nvSpPr>
          <p:spPr>
            <a:xfrm>
              <a:off x="0" y="0"/>
              <a:ext cx="2998640" cy="1133469"/>
            </a:xfrm>
            <a:custGeom>
              <a:avLst/>
              <a:gdLst/>
              <a:ahLst/>
              <a:cxnLst/>
              <a:rect l="l" t="t" r="r" b="b"/>
              <a:pathLst>
                <a:path w="2998640" h="1133469">
                  <a:moveTo>
                    <a:pt x="36144" y="0"/>
                  </a:moveTo>
                  <a:lnTo>
                    <a:pt x="2962496" y="0"/>
                  </a:lnTo>
                  <a:cubicBezTo>
                    <a:pt x="2972082" y="0"/>
                    <a:pt x="2981275" y="3808"/>
                    <a:pt x="2988054" y="10586"/>
                  </a:cubicBezTo>
                  <a:cubicBezTo>
                    <a:pt x="2994832" y="17365"/>
                    <a:pt x="2998640" y="26558"/>
                    <a:pt x="2998640" y="36144"/>
                  </a:cubicBezTo>
                  <a:lnTo>
                    <a:pt x="2998640" y="1097325"/>
                  </a:lnTo>
                  <a:cubicBezTo>
                    <a:pt x="2998640" y="1106911"/>
                    <a:pt x="2994832" y="1116104"/>
                    <a:pt x="2988054" y="1122883"/>
                  </a:cubicBezTo>
                  <a:cubicBezTo>
                    <a:pt x="2981275" y="1129661"/>
                    <a:pt x="2972082" y="1133469"/>
                    <a:pt x="2962496" y="1133469"/>
                  </a:cubicBezTo>
                  <a:lnTo>
                    <a:pt x="36144" y="1133469"/>
                  </a:lnTo>
                  <a:cubicBezTo>
                    <a:pt x="26558" y="1133469"/>
                    <a:pt x="17365" y="1129661"/>
                    <a:pt x="10586" y="1122883"/>
                  </a:cubicBezTo>
                  <a:cubicBezTo>
                    <a:pt x="3808" y="1116104"/>
                    <a:pt x="0" y="1106911"/>
                    <a:pt x="0" y="1097325"/>
                  </a:cubicBezTo>
                  <a:lnTo>
                    <a:pt x="0" y="36144"/>
                  </a:lnTo>
                  <a:cubicBezTo>
                    <a:pt x="0" y="26558"/>
                    <a:pt x="3808" y="17365"/>
                    <a:pt x="10586" y="10586"/>
                  </a:cubicBezTo>
                  <a:cubicBezTo>
                    <a:pt x="17365" y="3808"/>
                    <a:pt x="26558" y="0"/>
                    <a:pt x="36144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85CD1183-E0CB-3FCB-5E30-6F4B1A7B677C}"/>
                </a:ext>
              </a:extLst>
            </p:cNvPr>
            <p:cNvSpPr txBox="1"/>
            <p:nvPr/>
          </p:nvSpPr>
          <p:spPr>
            <a:xfrm>
              <a:off x="0" y="-38100"/>
              <a:ext cx="2998640" cy="1171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42E13D72-0B5D-C87D-63D5-B85339C8166F}"/>
              </a:ext>
            </a:extLst>
          </p:cNvPr>
          <p:cNvSpPr/>
          <p:nvPr/>
        </p:nvSpPr>
        <p:spPr>
          <a:xfrm>
            <a:off x="-1" y="0"/>
            <a:ext cx="6070875" cy="718810"/>
          </a:xfrm>
          <a:prstGeom prst="rect">
            <a:avLst/>
          </a:prstGeom>
          <a:solidFill>
            <a:srgbClr val="EBA40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BBE070-7224-9599-3608-8D16829F9FE2}"/>
              </a:ext>
            </a:extLst>
          </p:cNvPr>
          <p:cNvSpPr/>
          <p:nvPr/>
        </p:nvSpPr>
        <p:spPr>
          <a:xfrm>
            <a:off x="12192000" y="0"/>
            <a:ext cx="6096000" cy="718810"/>
          </a:xfrm>
          <a:prstGeom prst="rect">
            <a:avLst/>
          </a:prstGeom>
          <a:solidFill>
            <a:srgbClr val="DDDDD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7D2861-EC98-F12D-5712-2FEDBD85665B}"/>
              </a:ext>
            </a:extLst>
          </p:cNvPr>
          <p:cNvSpPr/>
          <p:nvPr/>
        </p:nvSpPr>
        <p:spPr>
          <a:xfrm>
            <a:off x="6095999" y="0"/>
            <a:ext cx="6070875" cy="718810"/>
          </a:xfrm>
          <a:prstGeom prst="rect">
            <a:avLst/>
          </a:prstGeom>
          <a:solidFill>
            <a:srgbClr val="DDDDD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17">
            <a:extLst>
              <a:ext uri="{FF2B5EF4-FFF2-40B4-BE49-F238E27FC236}">
                <a16:creationId xmlns:a16="http://schemas.microsoft.com/office/drawing/2014/main" id="{66CBDD6A-5FDF-8E9A-AF0D-309167CC5DD9}"/>
              </a:ext>
            </a:extLst>
          </p:cNvPr>
          <p:cNvSpPr txBox="1"/>
          <p:nvPr/>
        </p:nvSpPr>
        <p:spPr>
          <a:xfrm>
            <a:off x="6299062" y="-434312"/>
            <a:ext cx="5689875" cy="1097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3600" b="1" dirty="0">
                <a:latin typeface="Telegraf Heavy"/>
                <a:ea typeface="Telegraf Heavy"/>
                <a:cs typeface="Telegraf Heavy"/>
                <a:sym typeface="Telegraf Heavy"/>
              </a:rPr>
              <a:t>Deep learning models</a:t>
            </a:r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FC60347B-C37F-F1D1-30B9-021F84CEB0CA}"/>
              </a:ext>
            </a:extLst>
          </p:cNvPr>
          <p:cNvSpPr txBox="1"/>
          <p:nvPr/>
        </p:nvSpPr>
        <p:spPr>
          <a:xfrm>
            <a:off x="12369937" y="-434312"/>
            <a:ext cx="5689875" cy="1097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3600" b="1" dirty="0">
                <a:latin typeface="Telegraf Heavy"/>
                <a:ea typeface="Telegraf Heavy"/>
                <a:cs typeface="Telegraf Heavy"/>
                <a:sym typeface="Telegraf Heavy"/>
              </a:rPr>
              <a:t>Results</a:t>
            </a:r>
          </a:p>
        </p:txBody>
      </p:sp>
      <p:sp>
        <p:nvSpPr>
          <p:cNvPr id="10" name="TextBox 17">
            <a:extLst>
              <a:ext uri="{FF2B5EF4-FFF2-40B4-BE49-F238E27FC236}">
                <a16:creationId xmlns:a16="http://schemas.microsoft.com/office/drawing/2014/main" id="{7942322D-B6C7-5E00-5CB7-C2B1275618BE}"/>
              </a:ext>
            </a:extLst>
          </p:cNvPr>
          <p:cNvSpPr txBox="1"/>
          <p:nvPr/>
        </p:nvSpPr>
        <p:spPr>
          <a:xfrm>
            <a:off x="228187" y="-434312"/>
            <a:ext cx="5689875" cy="1097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3600" b="1" dirty="0">
                <a:solidFill>
                  <a:schemeClr val="bg1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Base models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D613F6F-5B8F-8073-4C36-206D4DB9E1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231993"/>
            <a:ext cx="6096000" cy="5254906"/>
          </a:xfrm>
          <a:prstGeom prst="rect">
            <a:avLst/>
          </a:prstGeom>
        </p:spPr>
      </p:pic>
      <p:sp>
        <p:nvSpPr>
          <p:cNvPr id="13" name="TextBox 17">
            <a:extLst>
              <a:ext uri="{FF2B5EF4-FFF2-40B4-BE49-F238E27FC236}">
                <a16:creationId xmlns:a16="http://schemas.microsoft.com/office/drawing/2014/main" id="{B3FB611C-C4D2-71C6-B8CD-3216DA91397B}"/>
              </a:ext>
            </a:extLst>
          </p:cNvPr>
          <p:cNvSpPr txBox="1"/>
          <p:nvPr/>
        </p:nvSpPr>
        <p:spPr>
          <a:xfrm>
            <a:off x="253725" y="2674677"/>
            <a:ext cx="5689875" cy="1097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3600" b="1" dirty="0">
                <a:latin typeface="Telegraf Heavy"/>
                <a:ea typeface="Telegraf Heavy"/>
                <a:cs typeface="Telegraf Heavy"/>
                <a:sym typeface="Telegraf Heavy"/>
              </a:rPr>
              <a:t>Full data preprocessing</a:t>
            </a:r>
          </a:p>
        </p:txBody>
      </p:sp>
      <p:sp>
        <p:nvSpPr>
          <p:cNvPr id="22" name="TextBox 17">
            <a:extLst>
              <a:ext uri="{FF2B5EF4-FFF2-40B4-BE49-F238E27FC236}">
                <a16:creationId xmlns:a16="http://schemas.microsoft.com/office/drawing/2014/main" id="{570B337E-7FEA-988F-C1DF-82388EEE9F53}"/>
              </a:ext>
            </a:extLst>
          </p:cNvPr>
          <p:cNvSpPr txBox="1"/>
          <p:nvPr/>
        </p:nvSpPr>
        <p:spPr>
          <a:xfrm>
            <a:off x="6273525" y="2674677"/>
            <a:ext cx="5689875" cy="1097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3600" b="1" dirty="0">
                <a:latin typeface="Telegraf Heavy"/>
                <a:ea typeface="Telegraf Heavy"/>
                <a:cs typeface="Telegraf Heavy"/>
                <a:sym typeface="Telegraf Heavy"/>
              </a:rPr>
              <a:t>Random Search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ADBD6F4-9EFF-FF63-99BA-5249EE67AA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231993"/>
            <a:ext cx="6096000" cy="5254906"/>
          </a:xfrm>
          <a:prstGeom prst="rect">
            <a:avLst/>
          </a:prstGeom>
        </p:spPr>
      </p:pic>
      <p:sp>
        <p:nvSpPr>
          <p:cNvPr id="37" name="TextBox 17">
            <a:extLst>
              <a:ext uri="{FF2B5EF4-FFF2-40B4-BE49-F238E27FC236}">
                <a16:creationId xmlns:a16="http://schemas.microsoft.com/office/drawing/2014/main" id="{9279B03A-D790-A741-97AA-1E44435237BB}"/>
              </a:ext>
            </a:extLst>
          </p:cNvPr>
          <p:cNvSpPr txBox="1"/>
          <p:nvPr/>
        </p:nvSpPr>
        <p:spPr>
          <a:xfrm>
            <a:off x="12344400" y="2674676"/>
            <a:ext cx="5689875" cy="1097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3600" b="1" dirty="0">
                <a:latin typeface="Telegraf Heavy"/>
                <a:ea typeface="Telegraf Heavy"/>
                <a:cs typeface="Telegraf Heavy"/>
                <a:sym typeface="Telegraf Heavy"/>
              </a:rPr>
              <a:t>Best parameter model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11C47929-646C-7756-6900-F876D86F1A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4231994"/>
            <a:ext cx="6096000" cy="5254906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93701B67-1A0D-5D31-0E5B-5A39C00B8C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1999" y="4231992"/>
            <a:ext cx="6096002" cy="525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266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E52FCAF3-F761-8616-CD59-E40A833CB67B}"/>
              </a:ext>
            </a:extLst>
          </p:cNvPr>
          <p:cNvGrpSpPr/>
          <p:nvPr/>
        </p:nvGrpSpPr>
        <p:grpSpPr>
          <a:xfrm>
            <a:off x="25125" y="25508"/>
            <a:ext cx="5689875" cy="718810"/>
            <a:chOff x="0" y="0"/>
            <a:chExt cx="2998640" cy="1133469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3E56A93-56F1-CB76-BF83-07EB1D48D1A7}"/>
                </a:ext>
              </a:extLst>
            </p:cNvPr>
            <p:cNvSpPr/>
            <p:nvPr/>
          </p:nvSpPr>
          <p:spPr>
            <a:xfrm>
              <a:off x="0" y="0"/>
              <a:ext cx="2998640" cy="1133469"/>
            </a:xfrm>
            <a:custGeom>
              <a:avLst/>
              <a:gdLst/>
              <a:ahLst/>
              <a:cxnLst/>
              <a:rect l="l" t="t" r="r" b="b"/>
              <a:pathLst>
                <a:path w="2998640" h="1133469">
                  <a:moveTo>
                    <a:pt x="36144" y="0"/>
                  </a:moveTo>
                  <a:lnTo>
                    <a:pt x="2962496" y="0"/>
                  </a:lnTo>
                  <a:cubicBezTo>
                    <a:pt x="2972082" y="0"/>
                    <a:pt x="2981275" y="3808"/>
                    <a:pt x="2988054" y="10586"/>
                  </a:cubicBezTo>
                  <a:cubicBezTo>
                    <a:pt x="2994832" y="17365"/>
                    <a:pt x="2998640" y="26558"/>
                    <a:pt x="2998640" y="36144"/>
                  </a:cubicBezTo>
                  <a:lnTo>
                    <a:pt x="2998640" y="1097325"/>
                  </a:lnTo>
                  <a:cubicBezTo>
                    <a:pt x="2998640" y="1106911"/>
                    <a:pt x="2994832" y="1116104"/>
                    <a:pt x="2988054" y="1122883"/>
                  </a:cubicBezTo>
                  <a:cubicBezTo>
                    <a:pt x="2981275" y="1129661"/>
                    <a:pt x="2972082" y="1133469"/>
                    <a:pt x="2962496" y="1133469"/>
                  </a:cubicBezTo>
                  <a:lnTo>
                    <a:pt x="36144" y="1133469"/>
                  </a:lnTo>
                  <a:cubicBezTo>
                    <a:pt x="26558" y="1133469"/>
                    <a:pt x="17365" y="1129661"/>
                    <a:pt x="10586" y="1122883"/>
                  </a:cubicBezTo>
                  <a:cubicBezTo>
                    <a:pt x="3808" y="1116104"/>
                    <a:pt x="0" y="1106911"/>
                    <a:pt x="0" y="1097325"/>
                  </a:cubicBezTo>
                  <a:lnTo>
                    <a:pt x="0" y="36144"/>
                  </a:lnTo>
                  <a:cubicBezTo>
                    <a:pt x="0" y="26558"/>
                    <a:pt x="3808" y="17365"/>
                    <a:pt x="10586" y="10586"/>
                  </a:cubicBezTo>
                  <a:cubicBezTo>
                    <a:pt x="17365" y="3808"/>
                    <a:pt x="26558" y="0"/>
                    <a:pt x="36144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7B7379C6-4AE1-3C40-A2F1-BE90A2E3CF5D}"/>
                </a:ext>
              </a:extLst>
            </p:cNvPr>
            <p:cNvSpPr txBox="1"/>
            <p:nvPr/>
          </p:nvSpPr>
          <p:spPr>
            <a:xfrm>
              <a:off x="0" y="-38100"/>
              <a:ext cx="2998640" cy="1171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0C1D63CC-22D5-59D3-463F-EAFCB9AC7831}"/>
              </a:ext>
            </a:extLst>
          </p:cNvPr>
          <p:cNvSpPr/>
          <p:nvPr/>
        </p:nvSpPr>
        <p:spPr>
          <a:xfrm>
            <a:off x="-1" y="0"/>
            <a:ext cx="6070875" cy="718810"/>
          </a:xfrm>
          <a:prstGeom prst="rect">
            <a:avLst/>
          </a:prstGeom>
          <a:solidFill>
            <a:srgbClr val="EBA40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6CD26E-D653-5AB6-6933-3E17D19B0DEE}"/>
              </a:ext>
            </a:extLst>
          </p:cNvPr>
          <p:cNvSpPr/>
          <p:nvPr/>
        </p:nvSpPr>
        <p:spPr>
          <a:xfrm>
            <a:off x="12192000" y="0"/>
            <a:ext cx="6096000" cy="718810"/>
          </a:xfrm>
          <a:prstGeom prst="rect">
            <a:avLst/>
          </a:prstGeom>
          <a:solidFill>
            <a:srgbClr val="DDDDD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4009F1-276F-64A5-69D4-8704E2B56714}"/>
              </a:ext>
            </a:extLst>
          </p:cNvPr>
          <p:cNvSpPr/>
          <p:nvPr/>
        </p:nvSpPr>
        <p:spPr>
          <a:xfrm>
            <a:off x="6095999" y="0"/>
            <a:ext cx="6070875" cy="718810"/>
          </a:xfrm>
          <a:prstGeom prst="rect">
            <a:avLst/>
          </a:prstGeom>
          <a:solidFill>
            <a:srgbClr val="DDDDD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17">
            <a:extLst>
              <a:ext uri="{FF2B5EF4-FFF2-40B4-BE49-F238E27FC236}">
                <a16:creationId xmlns:a16="http://schemas.microsoft.com/office/drawing/2014/main" id="{73677437-36D9-A8EE-50A6-B89460F8C64D}"/>
              </a:ext>
            </a:extLst>
          </p:cNvPr>
          <p:cNvSpPr txBox="1"/>
          <p:nvPr/>
        </p:nvSpPr>
        <p:spPr>
          <a:xfrm>
            <a:off x="6299062" y="-434312"/>
            <a:ext cx="5689875" cy="1097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3600" b="1" dirty="0">
                <a:latin typeface="Telegraf Heavy"/>
                <a:ea typeface="Telegraf Heavy"/>
                <a:cs typeface="Telegraf Heavy"/>
                <a:sym typeface="Telegraf Heavy"/>
              </a:rPr>
              <a:t>Deep learning models</a:t>
            </a:r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E9A1D97A-8056-250F-0327-1F330D149A79}"/>
              </a:ext>
            </a:extLst>
          </p:cNvPr>
          <p:cNvSpPr txBox="1"/>
          <p:nvPr/>
        </p:nvSpPr>
        <p:spPr>
          <a:xfrm>
            <a:off x="12369937" y="-434312"/>
            <a:ext cx="5689875" cy="1097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3600" b="1" dirty="0">
                <a:latin typeface="Telegraf Heavy"/>
                <a:ea typeface="Telegraf Heavy"/>
                <a:cs typeface="Telegraf Heavy"/>
                <a:sym typeface="Telegraf Heavy"/>
              </a:rPr>
              <a:t>Results</a:t>
            </a:r>
          </a:p>
        </p:txBody>
      </p:sp>
      <p:sp>
        <p:nvSpPr>
          <p:cNvPr id="10" name="TextBox 17">
            <a:extLst>
              <a:ext uri="{FF2B5EF4-FFF2-40B4-BE49-F238E27FC236}">
                <a16:creationId xmlns:a16="http://schemas.microsoft.com/office/drawing/2014/main" id="{1AD654D6-E4ED-961A-DCB0-95013203F7EC}"/>
              </a:ext>
            </a:extLst>
          </p:cNvPr>
          <p:cNvSpPr txBox="1"/>
          <p:nvPr/>
        </p:nvSpPr>
        <p:spPr>
          <a:xfrm>
            <a:off x="228187" y="-434312"/>
            <a:ext cx="5689875" cy="1097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3600" b="1" dirty="0">
                <a:solidFill>
                  <a:schemeClr val="bg1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Base models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661CE19-3D02-1A05-5DB1-CDC0C85176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55" y="735351"/>
            <a:ext cx="6070875" cy="955164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FB7BD27-4836-4EDB-310B-67A62F403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9896" y="1333500"/>
            <a:ext cx="6248721" cy="284494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B245F18-97D3-C272-C18B-6A33C01616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92034" y="1495962"/>
            <a:ext cx="4410166" cy="235276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36B26FD-1890-3D69-824A-41DDEB7023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92033" y="4346434"/>
            <a:ext cx="4410166" cy="226033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F391FF7-2294-F22A-380F-01147FF401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2708" y="4162820"/>
            <a:ext cx="6095910" cy="278125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62EB0F-373F-870B-48AF-BD63C80877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6099" y="6987312"/>
            <a:ext cx="6096313" cy="285764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0FF2AA5-F6BC-CD1C-FA89-805B5B0216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192032" y="7225801"/>
            <a:ext cx="4360645" cy="226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530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3E5AA980-4FA7-C8AE-CF92-952C04035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771991"/>
            <a:ext cx="7772400" cy="3217005"/>
          </a:xfrm>
          <a:prstGeom prst="rect">
            <a:avLst/>
          </a:prstGeom>
        </p:spPr>
      </p:pic>
      <p:grpSp>
        <p:nvGrpSpPr>
          <p:cNvPr id="2" name="Group 5">
            <a:extLst>
              <a:ext uri="{FF2B5EF4-FFF2-40B4-BE49-F238E27FC236}">
                <a16:creationId xmlns:a16="http://schemas.microsoft.com/office/drawing/2014/main" id="{DA200110-83DB-C175-2F0C-4B9910213E42}"/>
              </a:ext>
            </a:extLst>
          </p:cNvPr>
          <p:cNvGrpSpPr/>
          <p:nvPr/>
        </p:nvGrpSpPr>
        <p:grpSpPr>
          <a:xfrm>
            <a:off x="25125" y="25508"/>
            <a:ext cx="5689875" cy="718810"/>
            <a:chOff x="0" y="0"/>
            <a:chExt cx="2998640" cy="1133469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A6AB6CF5-8C0C-D86F-584E-121CD6050EEA}"/>
                </a:ext>
              </a:extLst>
            </p:cNvPr>
            <p:cNvSpPr/>
            <p:nvPr/>
          </p:nvSpPr>
          <p:spPr>
            <a:xfrm>
              <a:off x="0" y="0"/>
              <a:ext cx="2998640" cy="1133469"/>
            </a:xfrm>
            <a:custGeom>
              <a:avLst/>
              <a:gdLst/>
              <a:ahLst/>
              <a:cxnLst/>
              <a:rect l="l" t="t" r="r" b="b"/>
              <a:pathLst>
                <a:path w="2998640" h="1133469">
                  <a:moveTo>
                    <a:pt x="36144" y="0"/>
                  </a:moveTo>
                  <a:lnTo>
                    <a:pt x="2962496" y="0"/>
                  </a:lnTo>
                  <a:cubicBezTo>
                    <a:pt x="2972082" y="0"/>
                    <a:pt x="2981275" y="3808"/>
                    <a:pt x="2988054" y="10586"/>
                  </a:cubicBezTo>
                  <a:cubicBezTo>
                    <a:pt x="2994832" y="17365"/>
                    <a:pt x="2998640" y="26558"/>
                    <a:pt x="2998640" y="36144"/>
                  </a:cubicBezTo>
                  <a:lnTo>
                    <a:pt x="2998640" y="1097325"/>
                  </a:lnTo>
                  <a:cubicBezTo>
                    <a:pt x="2998640" y="1106911"/>
                    <a:pt x="2994832" y="1116104"/>
                    <a:pt x="2988054" y="1122883"/>
                  </a:cubicBezTo>
                  <a:cubicBezTo>
                    <a:pt x="2981275" y="1129661"/>
                    <a:pt x="2972082" y="1133469"/>
                    <a:pt x="2962496" y="1133469"/>
                  </a:cubicBezTo>
                  <a:lnTo>
                    <a:pt x="36144" y="1133469"/>
                  </a:lnTo>
                  <a:cubicBezTo>
                    <a:pt x="26558" y="1133469"/>
                    <a:pt x="17365" y="1129661"/>
                    <a:pt x="10586" y="1122883"/>
                  </a:cubicBezTo>
                  <a:cubicBezTo>
                    <a:pt x="3808" y="1116104"/>
                    <a:pt x="0" y="1106911"/>
                    <a:pt x="0" y="1097325"/>
                  </a:cubicBezTo>
                  <a:lnTo>
                    <a:pt x="0" y="36144"/>
                  </a:lnTo>
                  <a:cubicBezTo>
                    <a:pt x="0" y="26558"/>
                    <a:pt x="3808" y="17365"/>
                    <a:pt x="10586" y="10586"/>
                  </a:cubicBezTo>
                  <a:cubicBezTo>
                    <a:pt x="17365" y="3808"/>
                    <a:pt x="26558" y="0"/>
                    <a:pt x="36144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F7AF39E9-EBAA-53E5-1534-85D9744079E5}"/>
                </a:ext>
              </a:extLst>
            </p:cNvPr>
            <p:cNvSpPr txBox="1"/>
            <p:nvPr/>
          </p:nvSpPr>
          <p:spPr>
            <a:xfrm>
              <a:off x="0" y="-38100"/>
              <a:ext cx="2998640" cy="1171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3095CEB9-9894-02CA-FFC9-D88A34735902}"/>
              </a:ext>
            </a:extLst>
          </p:cNvPr>
          <p:cNvSpPr/>
          <p:nvPr/>
        </p:nvSpPr>
        <p:spPr>
          <a:xfrm>
            <a:off x="-1" y="0"/>
            <a:ext cx="6070875" cy="718810"/>
          </a:xfrm>
          <a:prstGeom prst="rect">
            <a:avLst/>
          </a:prstGeom>
          <a:solidFill>
            <a:srgbClr val="EBA40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798287-B9C9-A062-F746-5495B9F30293}"/>
              </a:ext>
            </a:extLst>
          </p:cNvPr>
          <p:cNvSpPr/>
          <p:nvPr/>
        </p:nvSpPr>
        <p:spPr>
          <a:xfrm>
            <a:off x="12192000" y="0"/>
            <a:ext cx="6096000" cy="718810"/>
          </a:xfrm>
          <a:prstGeom prst="rect">
            <a:avLst/>
          </a:prstGeom>
          <a:solidFill>
            <a:srgbClr val="DDDDD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1A8FBF-D30C-FAF7-08C2-B75BFCA6D81E}"/>
              </a:ext>
            </a:extLst>
          </p:cNvPr>
          <p:cNvSpPr/>
          <p:nvPr/>
        </p:nvSpPr>
        <p:spPr>
          <a:xfrm>
            <a:off x="6095999" y="0"/>
            <a:ext cx="6070875" cy="718810"/>
          </a:xfrm>
          <a:prstGeom prst="rect">
            <a:avLst/>
          </a:prstGeom>
          <a:solidFill>
            <a:srgbClr val="DDDDD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17">
            <a:extLst>
              <a:ext uri="{FF2B5EF4-FFF2-40B4-BE49-F238E27FC236}">
                <a16:creationId xmlns:a16="http://schemas.microsoft.com/office/drawing/2014/main" id="{8F27FC4B-2203-62B9-D0DA-A5E45A8DE779}"/>
              </a:ext>
            </a:extLst>
          </p:cNvPr>
          <p:cNvSpPr txBox="1"/>
          <p:nvPr/>
        </p:nvSpPr>
        <p:spPr>
          <a:xfrm>
            <a:off x="6299062" y="-434312"/>
            <a:ext cx="5689875" cy="1097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3600" b="1" dirty="0">
                <a:latin typeface="Telegraf Heavy"/>
                <a:ea typeface="Telegraf Heavy"/>
                <a:cs typeface="Telegraf Heavy"/>
                <a:sym typeface="Telegraf Heavy"/>
              </a:rPr>
              <a:t>Deep learning models</a:t>
            </a:r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52CED845-110B-85CC-619E-126ECCD918E3}"/>
              </a:ext>
            </a:extLst>
          </p:cNvPr>
          <p:cNvSpPr txBox="1"/>
          <p:nvPr/>
        </p:nvSpPr>
        <p:spPr>
          <a:xfrm>
            <a:off x="12369937" y="-434312"/>
            <a:ext cx="5689875" cy="1097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3600" b="1" dirty="0">
                <a:latin typeface="Telegraf Heavy"/>
                <a:ea typeface="Telegraf Heavy"/>
                <a:cs typeface="Telegraf Heavy"/>
                <a:sym typeface="Telegraf Heavy"/>
              </a:rPr>
              <a:t>Results</a:t>
            </a:r>
          </a:p>
        </p:txBody>
      </p:sp>
      <p:sp>
        <p:nvSpPr>
          <p:cNvPr id="10" name="TextBox 17">
            <a:extLst>
              <a:ext uri="{FF2B5EF4-FFF2-40B4-BE49-F238E27FC236}">
                <a16:creationId xmlns:a16="http://schemas.microsoft.com/office/drawing/2014/main" id="{0B3A8BC2-8C3C-312B-EBF3-A7596F54CF22}"/>
              </a:ext>
            </a:extLst>
          </p:cNvPr>
          <p:cNvSpPr txBox="1"/>
          <p:nvPr/>
        </p:nvSpPr>
        <p:spPr>
          <a:xfrm>
            <a:off x="228187" y="-434312"/>
            <a:ext cx="5689875" cy="1097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3600" b="1" dirty="0">
                <a:solidFill>
                  <a:schemeClr val="bg1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Base models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3B90D3E-154C-A2DB-CDF2-DB2049CB7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68002"/>
            <a:ext cx="13182600" cy="6418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295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58D1F34D-DA89-C522-97E5-CDC8DA72A95F}"/>
              </a:ext>
            </a:extLst>
          </p:cNvPr>
          <p:cNvGrpSpPr/>
          <p:nvPr/>
        </p:nvGrpSpPr>
        <p:grpSpPr>
          <a:xfrm>
            <a:off x="25125" y="25508"/>
            <a:ext cx="5689875" cy="718810"/>
            <a:chOff x="0" y="0"/>
            <a:chExt cx="2998640" cy="1133469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2567ED06-7D23-084D-0210-998C0166B071}"/>
                </a:ext>
              </a:extLst>
            </p:cNvPr>
            <p:cNvSpPr/>
            <p:nvPr/>
          </p:nvSpPr>
          <p:spPr>
            <a:xfrm>
              <a:off x="0" y="0"/>
              <a:ext cx="2998640" cy="1133469"/>
            </a:xfrm>
            <a:custGeom>
              <a:avLst/>
              <a:gdLst/>
              <a:ahLst/>
              <a:cxnLst/>
              <a:rect l="l" t="t" r="r" b="b"/>
              <a:pathLst>
                <a:path w="2998640" h="1133469">
                  <a:moveTo>
                    <a:pt x="36144" y="0"/>
                  </a:moveTo>
                  <a:lnTo>
                    <a:pt x="2962496" y="0"/>
                  </a:lnTo>
                  <a:cubicBezTo>
                    <a:pt x="2972082" y="0"/>
                    <a:pt x="2981275" y="3808"/>
                    <a:pt x="2988054" y="10586"/>
                  </a:cubicBezTo>
                  <a:cubicBezTo>
                    <a:pt x="2994832" y="17365"/>
                    <a:pt x="2998640" y="26558"/>
                    <a:pt x="2998640" y="36144"/>
                  </a:cubicBezTo>
                  <a:lnTo>
                    <a:pt x="2998640" y="1097325"/>
                  </a:lnTo>
                  <a:cubicBezTo>
                    <a:pt x="2998640" y="1106911"/>
                    <a:pt x="2994832" y="1116104"/>
                    <a:pt x="2988054" y="1122883"/>
                  </a:cubicBezTo>
                  <a:cubicBezTo>
                    <a:pt x="2981275" y="1129661"/>
                    <a:pt x="2972082" y="1133469"/>
                    <a:pt x="2962496" y="1133469"/>
                  </a:cubicBezTo>
                  <a:lnTo>
                    <a:pt x="36144" y="1133469"/>
                  </a:lnTo>
                  <a:cubicBezTo>
                    <a:pt x="26558" y="1133469"/>
                    <a:pt x="17365" y="1129661"/>
                    <a:pt x="10586" y="1122883"/>
                  </a:cubicBezTo>
                  <a:cubicBezTo>
                    <a:pt x="3808" y="1116104"/>
                    <a:pt x="0" y="1106911"/>
                    <a:pt x="0" y="1097325"/>
                  </a:cubicBezTo>
                  <a:lnTo>
                    <a:pt x="0" y="36144"/>
                  </a:lnTo>
                  <a:cubicBezTo>
                    <a:pt x="0" y="26558"/>
                    <a:pt x="3808" y="17365"/>
                    <a:pt x="10586" y="10586"/>
                  </a:cubicBezTo>
                  <a:cubicBezTo>
                    <a:pt x="17365" y="3808"/>
                    <a:pt x="26558" y="0"/>
                    <a:pt x="36144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D4E33AE7-3BB8-594B-2D22-FA755EF1DF02}"/>
                </a:ext>
              </a:extLst>
            </p:cNvPr>
            <p:cNvSpPr txBox="1"/>
            <p:nvPr/>
          </p:nvSpPr>
          <p:spPr>
            <a:xfrm>
              <a:off x="0" y="-38100"/>
              <a:ext cx="2998640" cy="1171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AF61EAAF-7BD9-B28C-9710-F374E18EB7B5}"/>
              </a:ext>
            </a:extLst>
          </p:cNvPr>
          <p:cNvSpPr/>
          <p:nvPr/>
        </p:nvSpPr>
        <p:spPr>
          <a:xfrm>
            <a:off x="-1" y="0"/>
            <a:ext cx="6070875" cy="718810"/>
          </a:xfrm>
          <a:prstGeom prst="rect">
            <a:avLst/>
          </a:prstGeom>
          <a:solidFill>
            <a:srgbClr val="DDDDD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73F5F0-7AFD-9FFB-DDA3-3D55F8AE8859}"/>
              </a:ext>
            </a:extLst>
          </p:cNvPr>
          <p:cNvSpPr/>
          <p:nvPr/>
        </p:nvSpPr>
        <p:spPr>
          <a:xfrm>
            <a:off x="12192000" y="0"/>
            <a:ext cx="6096000" cy="718810"/>
          </a:xfrm>
          <a:prstGeom prst="rect">
            <a:avLst/>
          </a:prstGeom>
          <a:solidFill>
            <a:srgbClr val="DDDDD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A7041C-B60E-FF85-EF3A-17DC93DA6E53}"/>
              </a:ext>
            </a:extLst>
          </p:cNvPr>
          <p:cNvSpPr/>
          <p:nvPr/>
        </p:nvSpPr>
        <p:spPr>
          <a:xfrm>
            <a:off x="6095999" y="0"/>
            <a:ext cx="6070875" cy="718810"/>
          </a:xfrm>
          <a:prstGeom prst="rect">
            <a:avLst/>
          </a:prstGeom>
          <a:solidFill>
            <a:srgbClr val="EBA40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17">
            <a:extLst>
              <a:ext uri="{FF2B5EF4-FFF2-40B4-BE49-F238E27FC236}">
                <a16:creationId xmlns:a16="http://schemas.microsoft.com/office/drawing/2014/main" id="{2EA23A74-37E9-BC3A-A5D8-37BA9643F98B}"/>
              </a:ext>
            </a:extLst>
          </p:cNvPr>
          <p:cNvSpPr txBox="1"/>
          <p:nvPr/>
        </p:nvSpPr>
        <p:spPr>
          <a:xfrm>
            <a:off x="6299062" y="-434312"/>
            <a:ext cx="5689875" cy="1097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3600" b="1" dirty="0">
                <a:solidFill>
                  <a:schemeClr val="bg1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Deep learning models</a:t>
            </a:r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077489E1-5A94-469C-E868-D1828799D510}"/>
              </a:ext>
            </a:extLst>
          </p:cNvPr>
          <p:cNvSpPr txBox="1"/>
          <p:nvPr/>
        </p:nvSpPr>
        <p:spPr>
          <a:xfrm>
            <a:off x="12369937" y="-434312"/>
            <a:ext cx="5689875" cy="23660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3600" b="1" dirty="0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Conclusion</a:t>
            </a:r>
          </a:p>
          <a:p>
            <a:pPr algn="ctr">
              <a:lnSpc>
                <a:spcPts val="9999"/>
              </a:lnSpc>
            </a:pPr>
            <a:endParaRPr lang="en-US" sz="3600" b="1" dirty="0">
              <a:latin typeface="Telegraf Heavy"/>
              <a:ea typeface="Telegraf Heavy"/>
              <a:cs typeface="Telegraf Heavy"/>
              <a:sym typeface="Telegraf Heavy"/>
            </a:endParaRPr>
          </a:p>
        </p:txBody>
      </p:sp>
      <p:sp>
        <p:nvSpPr>
          <p:cNvPr id="10" name="TextBox 17">
            <a:extLst>
              <a:ext uri="{FF2B5EF4-FFF2-40B4-BE49-F238E27FC236}">
                <a16:creationId xmlns:a16="http://schemas.microsoft.com/office/drawing/2014/main" id="{E0F11AC2-0AA3-32C2-A68B-B6DF8525C482}"/>
              </a:ext>
            </a:extLst>
          </p:cNvPr>
          <p:cNvSpPr txBox="1"/>
          <p:nvPr/>
        </p:nvSpPr>
        <p:spPr>
          <a:xfrm>
            <a:off x="228187" y="-434312"/>
            <a:ext cx="5689875" cy="1097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3600" b="1" dirty="0">
                <a:latin typeface="Telegraf Heavy"/>
                <a:ea typeface="Telegraf Heavy"/>
                <a:cs typeface="Telegraf Heavy"/>
                <a:sym typeface="Telegraf Heavy"/>
              </a:rPr>
              <a:t>Base models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0401DBE-40BA-CB2B-6BBD-B37965B50A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396887"/>
            <a:ext cx="7315200" cy="69151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9BD979F-5FA5-51AF-91D7-61ED975B13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6180" y="741670"/>
            <a:ext cx="5723997" cy="6916496"/>
          </a:xfrm>
          <a:prstGeom prst="rect">
            <a:avLst/>
          </a:prstGeom>
        </p:spPr>
      </p:pic>
      <p:sp>
        <p:nvSpPr>
          <p:cNvPr id="18" name="TextBox 18">
            <a:extLst>
              <a:ext uri="{FF2B5EF4-FFF2-40B4-BE49-F238E27FC236}">
                <a16:creationId xmlns:a16="http://schemas.microsoft.com/office/drawing/2014/main" id="{F489F318-C288-C2C6-243F-AD1CC98B0328}"/>
              </a:ext>
            </a:extLst>
          </p:cNvPr>
          <p:cNvSpPr txBox="1"/>
          <p:nvPr/>
        </p:nvSpPr>
        <p:spPr>
          <a:xfrm>
            <a:off x="-2" y="1982468"/>
            <a:ext cx="7315200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20"/>
              </a:lnSpc>
            </a:pPr>
            <a:r>
              <a:rPr lang="en-US" sz="2400" dirty="0">
                <a:sym typeface="Poppins"/>
              </a:rPr>
              <a:t>“New features: hour, </a:t>
            </a:r>
            <a:r>
              <a:rPr lang="en-US" sz="2400" dirty="0" err="1">
                <a:sym typeface="Poppins"/>
              </a:rPr>
              <a:t>dayofweek</a:t>
            </a:r>
            <a:r>
              <a:rPr lang="en-US" sz="2400" dirty="0">
                <a:sym typeface="Poppins"/>
              </a:rPr>
              <a:t>, month, </a:t>
            </a:r>
            <a:r>
              <a:rPr lang="en-US" sz="2400" dirty="0" err="1">
                <a:sym typeface="Poppins"/>
              </a:rPr>
              <a:t>is_weekend</a:t>
            </a:r>
            <a:r>
              <a:rPr lang="en-US" sz="2400" dirty="0">
                <a:sym typeface="Poppins"/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17A972-E931-A1C6-1F4F-90A341493A5F}"/>
              </a:ext>
            </a:extLst>
          </p:cNvPr>
          <p:cNvSpPr txBox="1"/>
          <p:nvPr/>
        </p:nvSpPr>
        <p:spPr>
          <a:xfrm>
            <a:off x="0" y="1144268"/>
            <a:ext cx="7315198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20"/>
              </a:lnSpc>
            </a:pPr>
            <a:r>
              <a:rPr lang="en-US" sz="2400" dirty="0">
                <a:sym typeface="Poppins"/>
              </a:rPr>
              <a:t>Target variable </a:t>
            </a:r>
            <a:r>
              <a:rPr lang="en-US" sz="2400" dirty="0" err="1">
                <a:sym typeface="Poppins"/>
              </a:rPr>
              <a:t>MinMax</a:t>
            </a:r>
            <a:r>
              <a:rPr lang="en-US" sz="2400" dirty="0">
                <a:sym typeface="Poppins"/>
              </a:rPr>
              <a:t> Scaling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B2E364-FE20-9136-1B6C-BCB872EB9BA2}"/>
              </a:ext>
            </a:extLst>
          </p:cNvPr>
          <p:cNvSpPr txBox="1"/>
          <p:nvPr/>
        </p:nvSpPr>
        <p:spPr>
          <a:xfrm>
            <a:off x="-2" y="2744468"/>
            <a:ext cx="7315200" cy="3416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just">
              <a:lnSpc>
                <a:spcPts val="2820"/>
              </a:lnSpc>
              <a:defRPr sz="2400"/>
            </a:lvl1pPr>
          </a:lstStyle>
          <a:p>
            <a:pPr algn="ctr"/>
            <a:r>
              <a:rPr lang="en-US" dirty="0">
                <a:sym typeface="Poppins"/>
              </a:rPr>
              <a:t>New features </a:t>
            </a:r>
            <a:r>
              <a:rPr lang="en-US" dirty="0" err="1">
                <a:sym typeface="Poppins"/>
              </a:rPr>
              <a:t>MinMax</a:t>
            </a:r>
            <a:r>
              <a:rPr lang="en-US" dirty="0">
                <a:sym typeface="Poppins"/>
              </a:rPr>
              <a:t> Scaling</a:t>
            </a:r>
          </a:p>
        </p:txBody>
      </p:sp>
      <p:sp>
        <p:nvSpPr>
          <p:cNvPr id="21" name="AutoShape 29">
            <a:extLst>
              <a:ext uri="{FF2B5EF4-FFF2-40B4-BE49-F238E27FC236}">
                <a16:creationId xmlns:a16="http://schemas.microsoft.com/office/drawing/2014/main" id="{6794585A-E0CB-0581-C833-3D127A778C4A}"/>
              </a:ext>
            </a:extLst>
          </p:cNvPr>
          <p:cNvSpPr/>
          <p:nvPr/>
        </p:nvSpPr>
        <p:spPr>
          <a:xfrm>
            <a:off x="3657600" y="1525268"/>
            <a:ext cx="0" cy="457200"/>
          </a:xfrm>
          <a:prstGeom prst="line">
            <a:avLst/>
          </a:prstGeom>
          <a:ln w="76200" cap="flat">
            <a:solidFill>
              <a:srgbClr val="1A1A1A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2" name="AutoShape 29">
            <a:extLst>
              <a:ext uri="{FF2B5EF4-FFF2-40B4-BE49-F238E27FC236}">
                <a16:creationId xmlns:a16="http://schemas.microsoft.com/office/drawing/2014/main" id="{6C56BB60-5B72-A7A5-F58A-1F6B27A6CB54}"/>
              </a:ext>
            </a:extLst>
          </p:cNvPr>
          <p:cNvSpPr/>
          <p:nvPr/>
        </p:nvSpPr>
        <p:spPr>
          <a:xfrm>
            <a:off x="3657600" y="2324100"/>
            <a:ext cx="0" cy="457200"/>
          </a:xfrm>
          <a:prstGeom prst="line">
            <a:avLst/>
          </a:prstGeom>
          <a:ln w="76200" cap="flat">
            <a:solidFill>
              <a:srgbClr val="1A1A1A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769DFA-3078-0540-0228-956D8894A326}"/>
              </a:ext>
            </a:extLst>
          </p:cNvPr>
          <p:cNvSpPr txBox="1"/>
          <p:nvPr/>
        </p:nvSpPr>
        <p:spPr>
          <a:xfrm>
            <a:off x="7513057" y="7878792"/>
            <a:ext cx="52578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20"/>
              </a:lnSpc>
            </a:pPr>
            <a:r>
              <a:rPr lang="en-US" sz="2400" dirty="0"/>
              <a:t>Multiple sliding windows of length 672 are created, and for each window, a forecast for the next 96 steps is generated.</a:t>
            </a:r>
            <a:endParaRPr lang="en-US" sz="2014" dirty="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" name="AutoShape 29">
            <a:extLst>
              <a:ext uri="{FF2B5EF4-FFF2-40B4-BE49-F238E27FC236}">
                <a16:creationId xmlns:a16="http://schemas.microsoft.com/office/drawing/2014/main" id="{40559F83-5DB5-0D8F-6116-A9C28591FB39}"/>
              </a:ext>
            </a:extLst>
          </p:cNvPr>
          <p:cNvSpPr/>
          <p:nvPr/>
        </p:nvSpPr>
        <p:spPr>
          <a:xfrm>
            <a:off x="13030200" y="8417401"/>
            <a:ext cx="762000" cy="0"/>
          </a:xfrm>
          <a:prstGeom prst="line">
            <a:avLst/>
          </a:prstGeom>
          <a:ln w="76200" cap="flat">
            <a:solidFill>
              <a:srgbClr val="1A1A1A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0DF06D-264E-3D41-2E90-33521455B7EB}"/>
              </a:ext>
            </a:extLst>
          </p:cNvPr>
          <p:cNvSpPr txBox="1"/>
          <p:nvPr/>
        </p:nvSpPr>
        <p:spPr>
          <a:xfrm>
            <a:off x="14020800" y="8058328"/>
            <a:ext cx="3429000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20"/>
              </a:lnSpc>
            </a:pPr>
            <a:r>
              <a:rPr lang="en-US" sz="2400" dirty="0"/>
              <a:t>The whole historical data is split into training examples.</a:t>
            </a:r>
          </a:p>
        </p:txBody>
      </p:sp>
      <p:sp>
        <p:nvSpPr>
          <p:cNvPr id="34" name="AutoShape 29">
            <a:extLst>
              <a:ext uri="{FF2B5EF4-FFF2-40B4-BE49-F238E27FC236}">
                <a16:creationId xmlns:a16="http://schemas.microsoft.com/office/drawing/2014/main" id="{19E01791-35EE-1D6E-80FB-8ACA410001FE}"/>
              </a:ext>
            </a:extLst>
          </p:cNvPr>
          <p:cNvSpPr/>
          <p:nvPr/>
        </p:nvSpPr>
        <p:spPr>
          <a:xfrm>
            <a:off x="15697200" y="8915387"/>
            <a:ext cx="0" cy="454690"/>
          </a:xfrm>
          <a:prstGeom prst="line">
            <a:avLst/>
          </a:prstGeom>
          <a:ln w="76200" cap="flat">
            <a:solidFill>
              <a:srgbClr val="1A1A1A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CA3D02-3614-BC63-F6EB-1A029C7C24FD}"/>
              </a:ext>
            </a:extLst>
          </p:cNvPr>
          <p:cNvSpPr txBox="1"/>
          <p:nvPr/>
        </p:nvSpPr>
        <p:spPr>
          <a:xfrm>
            <a:off x="13615851" y="9370077"/>
            <a:ext cx="4152899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20"/>
              </a:lnSpc>
            </a:pPr>
            <a:r>
              <a:rPr lang="en-US" sz="2400" dirty="0"/>
              <a:t>The resulting samples are fed into RNN, GRU and LSTM models.</a:t>
            </a:r>
          </a:p>
        </p:txBody>
      </p:sp>
    </p:spTree>
    <p:extLst>
      <p:ext uri="{BB962C8B-B14F-4D97-AF65-F5344CB8AC3E}">
        <p14:creationId xmlns:p14="http://schemas.microsoft.com/office/powerpoint/2010/main" val="281948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1994E-2153-D399-761C-101AECE99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EB0E5272-C865-B6B0-FAD6-8FC4F0A59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121" y="4076700"/>
            <a:ext cx="12475177" cy="2811000"/>
          </a:xfrm>
          <a:prstGeom prst="rect">
            <a:avLst/>
          </a:prstGeom>
        </p:spPr>
      </p:pic>
      <p:grpSp>
        <p:nvGrpSpPr>
          <p:cNvPr id="2" name="Group 5">
            <a:extLst>
              <a:ext uri="{FF2B5EF4-FFF2-40B4-BE49-F238E27FC236}">
                <a16:creationId xmlns:a16="http://schemas.microsoft.com/office/drawing/2014/main" id="{088DFE1E-51A6-F50F-6B0E-1F4560E33EB7}"/>
              </a:ext>
            </a:extLst>
          </p:cNvPr>
          <p:cNvGrpSpPr/>
          <p:nvPr/>
        </p:nvGrpSpPr>
        <p:grpSpPr>
          <a:xfrm>
            <a:off x="25125" y="25508"/>
            <a:ext cx="5689875" cy="718810"/>
            <a:chOff x="0" y="0"/>
            <a:chExt cx="2998640" cy="1133469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B72D6FFC-C54D-AC2A-E4B7-D325EE5506AD}"/>
                </a:ext>
              </a:extLst>
            </p:cNvPr>
            <p:cNvSpPr/>
            <p:nvPr/>
          </p:nvSpPr>
          <p:spPr>
            <a:xfrm>
              <a:off x="0" y="0"/>
              <a:ext cx="2998640" cy="1133469"/>
            </a:xfrm>
            <a:custGeom>
              <a:avLst/>
              <a:gdLst/>
              <a:ahLst/>
              <a:cxnLst/>
              <a:rect l="l" t="t" r="r" b="b"/>
              <a:pathLst>
                <a:path w="2998640" h="1133469">
                  <a:moveTo>
                    <a:pt x="36144" y="0"/>
                  </a:moveTo>
                  <a:lnTo>
                    <a:pt x="2962496" y="0"/>
                  </a:lnTo>
                  <a:cubicBezTo>
                    <a:pt x="2972082" y="0"/>
                    <a:pt x="2981275" y="3808"/>
                    <a:pt x="2988054" y="10586"/>
                  </a:cubicBezTo>
                  <a:cubicBezTo>
                    <a:pt x="2994832" y="17365"/>
                    <a:pt x="2998640" y="26558"/>
                    <a:pt x="2998640" y="36144"/>
                  </a:cubicBezTo>
                  <a:lnTo>
                    <a:pt x="2998640" y="1097325"/>
                  </a:lnTo>
                  <a:cubicBezTo>
                    <a:pt x="2998640" y="1106911"/>
                    <a:pt x="2994832" y="1116104"/>
                    <a:pt x="2988054" y="1122883"/>
                  </a:cubicBezTo>
                  <a:cubicBezTo>
                    <a:pt x="2981275" y="1129661"/>
                    <a:pt x="2972082" y="1133469"/>
                    <a:pt x="2962496" y="1133469"/>
                  </a:cubicBezTo>
                  <a:lnTo>
                    <a:pt x="36144" y="1133469"/>
                  </a:lnTo>
                  <a:cubicBezTo>
                    <a:pt x="26558" y="1133469"/>
                    <a:pt x="17365" y="1129661"/>
                    <a:pt x="10586" y="1122883"/>
                  </a:cubicBezTo>
                  <a:cubicBezTo>
                    <a:pt x="3808" y="1116104"/>
                    <a:pt x="0" y="1106911"/>
                    <a:pt x="0" y="1097325"/>
                  </a:cubicBezTo>
                  <a:lnTo>
                    <a:pt x="0" y="36144"/>
                  </a:lnTo>
                  <a:cubicBezTo>
                    <a:pt x="0" y="26558"/>
                    <a:pt x="3808" y="17365"/>
                    <a:pt x="10586" y="10586"/>
                  </a:cubicBezTo>
                  <a:cubicBezTo>
                    <a:pt x="17365" y="3808"/>
                    <a:pt x="26558" y="0"/>
                    <a:pt x="36144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51008B4C-096C-14E3-4ED7-5258234684B9}"/>
                </a:ext>
              </a:extLst>
            </p:cNvPr>
            <p:cNvSpPr txBox="1"/>
            <p:nvPr/>
          </p:nvSpPr>
          <p:spPr>
            <a:xfrm>
              <a:off x="0" y="-38100"/>
              <a:ext cx="2998640" cy="1171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E8B23AE9-8A78-1629-257A-4CC75802E05B}"/>
              </a:ext>
            </a:extLst>
          </p:cNvPr>
          <p:cNvSpPr/>
          <p:nvPr/>
        </p:nvSpPr>
        <p:spPr>
          <a:xfrm>
            <a:off x="-1" y="0"/>
            <a:ext cx="6070875" cy="718810"/>
          </a:xfrm>
          <a:prstGeom prst="rect">
            <a:avLst/>
          </a:prstGeom>
          <a:solidFill>
            <a:srgbClr val="DDDDD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A948D6-8336-DB55-1680-DF963188B95A}"/>
              </a:ext>
            </a:extLst>
          </p:cNvPr>
          <p:cNvSpPr/>
          <p:nvPr/>
        </p:nvSpPr>
        <p:spPr>
          <a:xfrm>
            <a:off x="12192000" y="0"/>
            <a:ext cx="6096000" cy="718810"/>
          </a:xfrm>
          <a:prstGeom prst="rect">
            <a:avLst/>
          </a:prstGeom>
          <a:solidFill>
            <a:srgbClr val="DDDDD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347F70-3CD9-7799-5318-7872AF1C49F7}"/>
              </a:ext>
            </a:extLst>
          </p:cNvPr>
          <p:cNvSpPr/>
          <p:nvPr/>
        </p:nvSpPr>
        <p:spPr>
          <a:xfrm>
            <a:off x="6095999" y="0"/>
            <a:ext cx="6070875" cy="718810"/>
          </a:xfrm>
          <a:prstGeom prst="rect">
            <a:avLst/>
          </a:prstGeom>
          <a:solidFill>
            <a:srgbClr val="EBA40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17">
            <a:extLst>
              <a:ext uri="{FF2B5EF4-FFF2-40B4-BE49-F238E27FC236}">
                <a16:creationId xmlns:a16="http://schemas.microsoft.com/office/drawing/2014/main" id="{29CB3C7D-83D6-5BD2-8933-A991B281CCE8}"/>
              </a:ext>
            </a:extLst>
          </p:cNvPr>
          <p:cNvSpPr txBox="1"/>
          <p:nvPr/>
        </p:nvSpPr>
        <p:spPr>
          <a:xfrm>
            <a:off x="6299062" y="-434312"/>
            <a:ext cx="5689875" cy="1097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3600" b="1" dirty="0">
                <a:solidFill>
                  <a:schemeClr val="bg1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Deep learning models</a:t>
            </a:r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3BE0AC0D-8B82-04F5-DF0C-40BDA136A07A}"/>
              </a:ext>
            </a:extLst>
          </p:cNvPr>
          <p:cNvSpPr txBox="1"/>
          <p:nvPr/>
        </p:nvSpPr>
        <p:spPr>
          <a:xfrm>
            <a:off x="12369937" y="-434312"/>
            <a:ext cx="5689875" cy="23660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3600" b="1" dirty="0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Conclusion</a:t>
            </a:r>
          </a:p>
          <a:p>
            <a:pPr algn="ctr">
              <a:lnSpc>
                <a:spcPts val="9999"/>
              </a:lnSpc>
            </a:pPr>
            <a:endParaRPr lang="en-US" sz="3600" b="1" dirty="0">
              <a:latin typeface="Telegraf Heavy"/>
              <a:ea typeface="Telegraf Heavy"/>
              <a:cs typeface="Telegraf Heavy"/>
              <a:sym typeface="Telegraf Heavy"/>
            </a:endParaRPr>
          </a:p>
        </p:txBody>
      </p:sp>
      <p:sp>
        <p:nvSpPr>
          <p:cNvPr id="10" name="TextBox 17">
            <a:extLst>
              <a:ext uri="{FF2B5EF4-FFF2-40B4-BE49-F238E27FC236}">
                <a16:creationId xmlns:a16="http://schemas.microsoft.com/office/drawing/2014/main" id="{7488E41E-84F0-E5F3-BAFE-6CB13DD7A7B2}"/>
              </a:ext>
            </a:extLst>
          </p:cNvPr>
          <p:cNvSpPr txBox="1"/>
          <p:nvPr/>
        </p:nvSpPr>
        <p:spPr>
          <a:xfrm>
            <a:off x="228187" y="-434312"/>
            <a:ext cx="5689875" cy="1097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3600" b="1" dirty="0">
                <a:latin typeface="Telegraf Heavy"/>
                <a:ea typeface="Telegraf Heavy"/>
                <a:cs typeface="Telegraf Heavy"/>
                <a:sym typeface="Telegraf Heavy"/>
              </a:rPr>
              <a:t>Base models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44B61BE-9F74-92A9-81F8-112CB928DE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886" y="742972"/>
            <a:ext cx="5782414" cy="62101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67799DD-08A7-4847-416D-E58AEE6F49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8538" y="854059"/>
            <a:ext cx="4249861" cy="3326548"/>
          </a:xfrm>
          <a:prstGeom prst="rect">
            <a:avLst/>
          </a:prstGeom>
        </p:spPr>
      </p:pic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5CB3199-2718-8678-F30C-161800EEEC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4193316"/>
              </p:ext>
            </p:extLst>
          </p:nvPr>
        </p:nvGraphicFramePr>
        <p:xfrm>
          <a:off x="10284234" y="854059"/>
          <a:ext cx="16764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187214196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283987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R^2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0.7984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773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0.0582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087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0.0847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966970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1EE4A680-4B42-4281-D1AD-2A95FED55EBF}"/>
              </a:ext>
            </a:extLst>
          </p:cNvPr>
          <p:cNvSpPr txBox="1"/>
          <p:nvPr/>
        </p:nvSpPr>
        <p:spPr>
          <a:xfrm rot="2196267">
            <a:off x="11589421" y="669393"/>
            <a:ext cx="7641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💩</a:t>
            </a:r>
            <a:endParaRPr lang="en-US" dirty="0">
              <a:effectLst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56B908-4C7E-4D1C-DC78-5E3FAF787B04}"/>
              </a:ext>
            </a:extLst>
          </p:cNvPr>
          <p:cNvSpPr txBox="1"/>
          <p:nvPr/>
        </p:nvSpPr>
        <p:spPr>
          <a:xfrm>
            <a:off x="1863223" y="7505645"/>
            <a:ext cx="5257800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20"/>
              </a:lnSpc>
            </a:pPr>
            <a:r>
              <a:rPr lang="en-US" sz="2400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Not so well results in comparison with baseline models</a:t>
            </a:r>
            <a:endParaRPr lang="en-US" sz="2014" dirty="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9FA747-9FDB-FE30-47CB-B4AB8C15ADA4}"/>
              </a:ext>
            </a:extLst>
          </p:cNvPr>
          <p:cNvSpPr txBox="1"/>
          <p:nvPr/>
        </p:nvSpPr>
        <p:spPr>
          <a:xfrm>
            <a:off x="1863223" y="8987294"/>
            <a:ext cx="5257800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20"/>
              </a:lnSpc>
            </a:pPr>
            <a:r>
              <a:rPr lang="en-US" sz="2400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On the model loss graph can be seen the overfitting situation</a:t>
            </a:r>
            <a:endParaRPr lang="en-US" sz="2014" dirty="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C77A1A-25EA-E42B-145C-0AD1B715C6EE}"/>
              </a:ext>
            </a:extLst>
          </p:cNvPr>
          <p:cNvSpPr txBox="1"/>
          <p:nvPr/>
        </p:nvSpPr>
        <p:spPr>
          <a:xfrm>
            <a:off x="12802012" y="7476255"/>
            <a:ext cx="5257800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20"/>
              </a:lnSpc>
            </a:pPr>
            <a:r>
              <a:rPr lang="en-US" sz="2400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Model is still fine to predict most of the tendencies </a:t>
            </a:r>
            <a:endParaRPr lang="en-US" sz="2014" dirty="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0" name="Group 2">
            <a:extLst>
              <a:ext uri="{FF2B5EF4-FFF2-40B4-BE49-F238E27FC236}">
                <a16:creationId xmlns:a16="http://schemas.microsoft.com/office/drawing/2014/main" id="{7E19CDE1-7C3A-BDCE-41B2-369836AF212A}"/>
              </a:ext>
            </a:extLst>
          </p:cNvPr>
          <p:cNvGrpSpPr/>
          <p:nvPr/>
        </p:nvGrpSpPr>
        <p:grpSpPr>
          <a:xfrm>
            <a:off x="457200" y="7258374"/>
            <a:ext cx="1193354" cy="1212688"/>
            <a:chOff x="0" y="0"/>
            <a:chExt cx="406400" cy="405371"/>
          </a:xfrm>
        </p:grpSpPr>
        <p:sp>
          <p:nvSpPr>
            <p:cNvPr id="31" name="Freeform 3">
              <a:extLst>
                <a:ext uri="{FF2B5EF4-FFF2-40B4-BE49-F238E27FC236}">
                  <a16:creationId xmlns:a16="http://schemas.microsoft.com/office/drawing/2014/main" id="{9B7D865B-9191-50EA-F969-2F795A82587C}"/>
                </a:ext>
              </a:extLst>
            </p:cNvPr>
            <p:cNvSpPr/>
            <p:nvPr/>
          </p:nvSpPr>
          <p:spPr>
            <a:xfrm>
              <a:off x="0" y="0"/>
              <a:ext cx="406400" cy="405371"/>
            </a:xfrm>
            <a:custGeom>
              <a:avLst/>
              <a:gdLst/>
              <a:ahLst/>
              <a:cxnLst/>
              <a:rect l="l" t="t" r="r" b="b"/>
              <a:pathLst>
                <a:path w="406400" h="405371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id="32" name="TextBox 4">
              <a:extLst>
                <a:ext uri="{FF2B5EF4-FFF2-40B4-BE49-F238E27FC236}">
                  <a16:creationId xmlns:a16="http://schemas.microsoft.com/office/drawing/2014/main" id="{36E7168C-E118-459D-BFFC-573ADC6D07B8}"/>
                </a:ext>
              </a:extLst>
            </p:cNvPr>
            <p:cNvSpPr txBox="1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33" name="TextBox 11">
            <a:extLst>
              <a:ext uri="{FF2B5EF4-FFF2-40B4-BE49-F238E27FC236}">
                <a16:creationId xmlns:a16="http://schemas.microsoft.com/office/drawing/2014/main" id="{256E87B2-EEF0-3947-097C-8FCE3BDFA812}"/>
              </a:ext>
            </a:extLst>
          </p:cNvPr>
          <p:cNvSpPr txBox="1"/>
          <p:nvPr/>
        </p:nvSpPr>
        <p:spPr>
          <a:xfrm>
            <a:off x="590690" y="7476450"/>
            <a:ext cx="975567" cy="635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208"/>
              </a:lnSpc>
            </a:pPr>
            <a:r>
              <a:rPr lang="en-US" sz="3600" b="1" dirty="0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01</a:t>
            </a:r>
            <a:endParaRPr lang="en-US" sz="4340" b="1" dirty="0">
              <a:solidFill>
                <a:srgbClr val="F5F5F5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grpSp>
        <p:nvGrpSpPr>
          <p:cNvPr id="34" name="Group 2">
            <a:extLst>
              <a:ext uri="{FF2B5EF4-FFF2-40B4-BE49-F238E27FC236}">
                <a16:creationId xmlns:a16="http://schemas.microsoft.com/office/drawing/2014/main" id="{F14F3417-3FD3-84C4-34A5-96A0B4E425E0}"/>
              </a:ext>
            </a:extLst>
          </p:cNvPr>
          <p:cNvGrpSpPr/>
          <p:nvPr/>
        </p:nvGrpSpPr>
        <p:grpSpPr>
          <a:xfrm>
            <a:off x="453125" y="8731412"/>
            <a:ext cx="1193354" cy="1212688"/>
            <a:chOff x="0" y="0"/>
            <a:chExt cx="406400" cy="405371"/>
          </a:xfrm>
        </p:grpSpPr>
        <p:sp>
          <p:nvSpPr>
            <p:cNvPr id="35" name="Freeform 3">
              <a:extLst>
                <a:ext uri="{FF2B5EF4-FFF2-40B4-BE49-F238E27FC236}">
                  <a16:creationId xmlns:a16="http://schemas.microsoft.com/office/drawing/2014/main" id="{57E99F92-5AF9-5762-C6F0-329189883735}"/>
                </a:ext>
              </a:extLst>
            </p:cNvPr>
            <p:cNvSpPr/>
            <p:nvPr/>
          </p:nvSpPr>
          <p:spPr>
            <a:xfrm>
              <a:off x="0" y="0"/>
              <a:ext cx="406400" cy="405371"/>
            </a:xfrm>
            <a:custGeom>
              <a:avLst/>
              <a:gdLst/>
              <a:ahLst/>
              <a:cxnLst/>
              <a:rect l="l" t="t" r="r" b="b"/>
              <a:pathLst>
                <a:path w="406400" h="405371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id="36" name="TextBox 4">
              <a:extLst>
                <a:ext uri="{FF2B5EF4-FFF2-40B4-BE49-F238E27FC236}">
                  <a16:creationId xmlns:a16="http://schemas.microsoft.com/office/drawing/2014/main" id="{BCEE7C2B-FDB9-E15A-6277-9581E092DA9C}"/>
                </a:ext>
              </a:extLst>
            </p:cNvPr>
            <p:cNvSpPr txBox="1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37" name="TextBox 11">
            <a:extLst>
              <a:ext uri="{FF2B5EF4-FFF2-40B4-BE49-F238E27FC236}">
                <a16:creationId xmlns:a16="http://schemas.microsoft.com/office/drawing/2014/main" id="{9F50AF9C-829F-18EB-4555-38B2938E02A7}"/>
              </a:ext>
            </a:extLst>
          </p:cNvPr>
          <p:cNvSpPr txBox="1"/>
          <p:nvPr/>
        </p:nvSpPr>
        <p:spPr>
          <a:xfrm>
            <a:off x="586615" y="8949488"/>
            <a:ext cx="975567" cy="6220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208"/>
              </a:lnSpc>
            </a:pPr>
            <a:r>
              <a:rPr lang="en-US" sz="3600" b="1" dirty="0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02</a:t>
            </a:r>
            <a:endParaRPr lang="en-US" sz="4340" b="1" dirty="0">
              <a:solidFill>
                <a:srgbClr val="F5F5F5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grpSp>
        <p:nvGrpSpPr>
          <p:cNvPr id="38" name="Group 2">
            <a:extLst>
              <a:ext uri="{FF2B5EF4-FFF2-40B4-BE49-F238E27FC236}">
                <a16:creationId xmlns:a16="http://schemas.microsoft.com/office/drawing/2014/main" id="{873D2BAB-EF09-59E4-A338-5D8506629866}"/>
              </a:ext>
            </a:extLst>
          </p:cNvPr>
          <p:cNvGrpSpPr/>
          <p:nvPr/>
        </p:nvGrpSpPr>
        <p:grpSpPr>
          <a:xfrm>
            <a:off x="11392260" y="7258374"/>
            <a:ext cx="1193354" cy="1212688"/>
            <a:chOff x="0" y="0"/>
            <a:chExt cx="406400" cy="405371"/>
          </a:xfrm>
        </p:grpSpPr>
        <p:sp>
          <p:nvSpPr>
            <p:cNvPr id="39" name="Freeform 3">
              <a:extLst>
                <a:ext uri="{FF2B5EF4-FFF2-40B4-BE49-F238E27FC236}">
                  <a16:creationId xmlns:a16="http://schemas.microsoft.com/office/drawing/2014/main" id="{2CCB9430-0A12-0DE9-2F73-3FE173F754BB}"/>
                </a:ext>
              </a:extLst>
            </p:cNvPr>
            <p:cNvSpPr/>
            <p:nvPr/>
          </p:nvSpPr>
          <p:spPr>
            <a:xfrm>
              <a:off x="0" y="0"/>
              <a:ext cx="406400" cy="405371"/>
            </a:xfrm>
            <a:custGeom>
              <a:avLst/>
              <a:gdLst/>
              <a:ahLst/>
              <a:cxnLst/>
              <a:rect l="l" t="t" r="r" b="b"/>
              <a:pathLst>
                <a:path w="406400" h="405371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id="40" name="TextBox 4">
              <a:extLst>
                <a:ext uri="{FF2B5EF4-FFF2-40B4-BE49-F238E27FC236}">
                  <a16:creationId xmlns:a16="http://schemas.microsoft.com/office/drawing/2014/main" id="{667DF41D-8317-8719-15FC-FC984BF63AD9}"/>
                </a:ext>
              </a:extLst>
            </p:cNvPr>
            <p:cNvSpPr txBox="1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41" name="TextBox 11">
            <a:extLst>
              <a:ext uri="{FF2B5EF4-FFF2-40B4-BE49-F238E27FC236}">
                <a16:creationId xmlns:a16="http://schemas.microsoft.com/office/drawing/2014/main" id="{95D26369-5560-A1EA-62ED-11251762D840}"/>
              </a:ext>
            </a:extLst>
          </p:cNvPr>
          <p:cNvSpPr txBox="1"/>
          <p:nvPr/>
        </p:nvSpPr>
        <p:spPr>
          <a:xfrm>
            <a:off x="11525750" y="7476450"/>
            <a:ext cx="975567" cy="635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208"/>
              </a:lnSpc>
            </a:pPr>
            <a:r>
              <a:rPr lang="en-US" sz="3600" b="1" dirty="0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03</a:t>
            </a:r>
            <a:endParaRPr lang="en-US" sz="4340" b="1" dirty="0">
              <a:solidFill>
                <a:srgbClr val="F5F5F5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</p:spTree>
    <p:extLst>
      <p:ext uri="{BB962C8B-B14F-4D97-AF65-F5344CB8AC3E}">
        <p14:creationId xmlns:p14="http://schemas.microsoft.com/office/powerpoint/2010/main" val="2495501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Picture 1032">
            <a:extLst>
              <a:ext uri="{FF2B5EF4-FFF2-40B4-BE49-F238E27FC236}">
                <a16:creationId xmlns:a16="http://schemas.microsoft.com/office/drawing/2014/main" id="{8D2C73F8-039D-9088-F502-BF6A800B9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6551" y="4022656"/>
            <a:ext cx="12511449" cy="28662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6CBC59-D82E-D345-FDB6-775FE9FF52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8810"/>
            <a:ext cx="5771528" cy="623426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AA45015-3D26-94B1-F7D4-47F0DB0AAA0C}"/>
              </a:ext>
            </a:extLst>
          </p:cNvPr>
          <p:cNvSpPr/>
          <p:nvPr/>
        </p:nvSpPr>
        <p:spPr>
          <a:xfrm>
            <a:off x="-1" y="0"/>
            <a:ext cx="6070875" cy="718810"/>
          </a:xfrm>
          <a:prstGeom prst="rect">
            <a:avLst/>
          </a:prstGeom>
          <a:solidFill>
            <a:srgbClr val="DDDDD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A2C825-F027-E83A-1EFF-1348A202C8A8}"/>
              </a:ext>
            </a:extLst>
          </p:cNvPr>
          <p:cNvSpPr/>
          <p:nvPr/>
        </p:nvSpPr>
        <p:spPr>
          <a:xfrm>
            <a:off x="12192000" y="0"/>
            <a:ext cx="6096000" cy="718810"/>
          </a:xfrm>
          <a:prstGeom prst="rect">
            <a:avLst/>
          </a:prstGeom>
          <a:solidFill>
            <a:srgbClr val="DDDDD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835A22-F7D1-6EC8-A0D5-90E26EED6EFF}"/>
              </a:ext>
            </a:extLst>
          </p:cNvPr>
          <p:cNvSpPr/>
          <p:nvPr/>
        </p:nvSpPr>
        <p:spPr>
          <a:xfrm>
            <a:off x="6095999" y="0"/>
            <a:ext cx="6070875" cy="718810"/>
          </a:xfrm>
          <a:prstGeom prst="rect">
            <a:avLst/>
          </a:prstGeom>
          <a:solidFill>
            <a:srgbClr val="EBA40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17">
            <a:extLst>
              <a:ext uri="{FF2B5EF4-FFF2-40B4-BE49-F238E27FC236}">
                <a16:creationId xmlns:a16="http://schemas.microsoft.com/office/drawing/2014/main" id="{B15D9FA3-E3D8-677F-F39C-8FED921CA5FC}"/>
              </a:ext>
            </a:extLst>
          </p:cNvPr>
          <p:cNvSpPr txBox="1"/>
          <p:nvPr/>
        </p:nvSpPr>
        <p:spPr>
          <a:xfrm>
            <a:off x="6299062" y="-434312"/>
            <a:ext cx="5689875" cy="1097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3600" b="1" dirty="0">
                <a:solidFill>
                  <a:schemeClr val="bg1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Deep learning models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68D20212-8815-D483-2F1F-F790570D49A4}"/>
              </a:ext>
            </a:extLst>
          </p:cNvPr>
          <p:cNvSpPr txBox="1"/>
          <p:nvPr/>
        </p:nvSpPr>
        <p:spPr>
          <a:xfrm>
            <a:off x="12369937" y="-434312"/>
            <a:ext cx="5689875" cy="23660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3600" b="1" dirty="0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Conclusion</a:t>
            </a:r>
          </a:p>
          <a:p>
            <a:pPr algn="ctr">
              <a:lnSpc>
                <a:spcPts val="9999"/>
              </a:lnSpc>
            </a:pPr>
            <a:endParaRPr lang="en-US" sz="3600" b="1" dirty="0">
              <a:latin typeface="Telegraf Heavy"/>
              <a:ea typeface="Telegraf Heavy"/>
              <a:cs typeface="Telegraf Heavy"/>
              <a:sym typeface="Telegraf Heavy"/>
            </a:endParaRPr>
          </a:p>
        </p:txBody>
      </p:sp>
      <p:sp>
        <p:nvSpPr>
          <p:cNvPr id="7" name="TextBox 17">
            <a:extLst>
              <a:ext uri="{FF2B5EF4-FFF2-40B4-BE49-F238E27FC236}">
                <a16:creationId xmlns:a16="http://schemas.microsoft.com/office/drawing/2014/main" id="{286EC190-7D42-3678-A2B5-CD895B253F84}"/>
              </a:ext>
            </a:extLst>
          </p:cNvPr>
          <p:cNvSpPr txBox="1"/>
          <p:nvPr/>
        </p:nvSpPr>
        <p:spPr>
          <a:xfrm>
            <a:off x="228187" y="-434312"/>
            <a:ext cx="5689875" cy="1097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3600" b="1" dirty="0">
                <a:latin typeface="Telegraf Heavy"/>
                <a:ea typeface="Telegraf Heavy"/>
                <a:cs typeface="Telegraf Heavy"/>
                <a:sym typeface="Telegraf Heavy"/>
              </a:rPr>
              <a:t>Base models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531ED68-DFDD-0628-C080-30F6E51881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1528" y="774709"/>
            <a:ext cx="3943553" cy="3206915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43AC18F-261B-5652-267C-EDE38731F2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1972465"/>
              </p:ext>
            </p:extLst>
          </p:nvPr>
        </p:nvGraphicFramePr>
        <p:xfrm>
          <a:off x="10284234" y="854059"/>
          <a:ext cx="16764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187214196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283987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R^2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solidFill>
                            <a:schemeClr val="tx1"/>
                          </a:solidFill>
                        </a:rPr>
                        <a:t>0.9407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773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0.0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326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087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0.0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459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966970"/>
                  </a:ext>
                </a:extLst>
              </a:tr>
            </a:tbl>
          </a:graphicData>
        </a:graphic>
      </p:graphicFrame>
      <p:pic>
        <p:nvPicPr>
          <p:cNvPr id="1026" name="Picture 2" descr="Download and share clipart about Wow Clip Art - Wow Pop Art Png, Find ...">
            <a:extLst>
              <a:ext uri="{FF2B5EF4-FFF2-40B4-BE49-F238E27FC236}">
                <a16:creationId xmlns:a16="http://schemas.microsoft.com/office/drawing/2014/main" id="{302FCBFB-986F-0337-93DF-418671663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432073">
            <a:off x="11723448" y="779507"/>
            <a:ext cx="718624" cy="424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DF67293-B848-73AA-07D1-8F1EF0C57855}"/>
              </a:ext>
            </a:extLst>
          </p:cNvPr>
          <p:cNvSpPr txBox="1"/>
          <p:nvPr/>
        </p:nvSpPr>
        <p:spPr>
          <a:xfrm>
            <a:off x="1787023" y="7981571"/>
            <a:ext cx="5257800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20"/>
              </a:lnSpc>
            </a:pPr>
            <a:r>
              <a:rPr lang="en-US" sz="2400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Very good metric’s values</a:t>
            </a:r>
            <a:endParaRPr lang="en-US" sz="2014" dirty="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7978D7-4F87-E7D3-585D-66E5A7C9681E}"/>
              </a:ext>
            </a:extLst>
          </p:cNvPr>
          <p:cNvSpPr txBox="1"/>
          <p:nvPr/>
        </p:nvSpPr>
        <p:spPr>
          <a:xfrm>
            <a:off x="12115800" y="7991271"/>
            <a:ext cx="5944012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20"/>
              </a:lnSpc>
            </a:pPr>
            <a:r>
              <a:rPr lang="en-US" sz="2400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Well trained model with stable validation results. </a:t>
            </a:r>
            <a:endParaRPr lang="en-US" sz="2014" dirty="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5" name="Group 2">
            <a:extLst>
              <a:ext uri="{FF2B5EF4-FFF2-40B4-BE49-F238E27FC236}">
                <a16:creationId xmlns:a16="http://schemas.microsoft.com/office/drawing/2014/main" id="{849E16C1-304F-5997-D5EF-E60FDA8D5794}"/>
              </a:ext>
            </a:extLst>
          </p:cNvPr>
          <p:cNvGrpSpPr/>
          <p:nvPr/>
        </p:nvGrpSpPr>
        <p:grpSpPr>
          <a:xfrm>
            <a:off x="381000" y="7734300"/>
            <a:ext cx="1193354" cy="1212688"/>
            <a:chOff x="0" y="0"/>
            <a:chExt cx="406400" cy="405371"/>
          </a:xfrm>
        </p:grpSpPr>
        <p:sp>
          <p:nvSpPr>
            <p:cNvPr id="26" name="Freeform 3">
              <a:extLst>
                <a:ext uri="{FF2B5EF4-FFF2-40B4-BE49-F238E27FC236}">
                  <a16:creationId xmlns:a16="http://schemas.microsoft.com/office/drawing/2014/main" id="{1E661492-283D-1B81-A1CF-B8DB47431A21}"/>
                </a:ext>
              </a:extLst>
            </p:cNvPr>
            <p:cNvSpPr/>
            <p:nvPr/>
          </p:nvSpPr>
          <p:spPr>
            <a:xfrm>
              <a:off x="0" y="0"/>
              <a:ext cx="406400" cy="405371"/>
            </a:xfrm>
            <a:custGeom>
              <a:avLst/>
              <a:gdLst/>
              <a:ahLst/>
              <a:cxnLst/>
              <a:rect l="l" t="t" r="r" b="b"/>
              <a:pathLst>
                <a:path w="406400" h="405371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id="27" name="TextBox 4">
              <a:extLst>
                <a:ext uri="{FF2B5EF4-FFF2-40B4-BE49-F238E27FC236}">
                  <a16:creationId xmlns:a16="http://schemas.microsoft.com/office/drawing/2014/main" id="{1814F803-3CB4-CD00-E971-AE55AE0DC6D2}"/>
                </a:ext>
              </a:extLst>
            </p:cNvPr>
            <p:cNvSpPr txBox="1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28" name="TextBox 11">
            <a:extLst>
              <a:ext uri="{FF2B5EF4-FFF2-40B4-BE49-F238E27FC236}">
                <a16:creationId xmlns:a16="http://schemas.microsoft.com/office/drawing/2014/main" id="{B4C3C2FC-1381-6C8F-9537-A851715ABE34}"/>
              </a:ext>
            </a:extLst>
          </p:cNvPr>
          <p:cNvSpPr txBox="1"/>
          <p:nvPr/>
        </p:nvSpPr>
        <p:spPr>
          <a:xfrm>
            <a:off x="514490" y="7952376"/>
            <a:ext cx="975567" cy="635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208"/>
              </a:lnSpc>
            </a:pPr>
            <a:r>
              <a:rPr lang="en-US" sz="3600" b="1" dirty="0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01</a:t>
            </a:r>
            <a:endParaRPr lang="en-US" sz="4340" b="1" dirty="0">
              <a:solidFill>
                <a:srgbClr val="F5F5F5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grpSp>
        <p:nvGrpSpPr>
          <p:cNvPr id="29" name="Group 2">
            <a:extLst>
              <a:ext uri="{FF2B5EF4-FFF2-40B4-BE49-F238E27FC236}">
                <a16:creationId xmlns:a16="http://schemas.microsoft.com/office/drawing/2014/main" id="{E6ED6486-E26B-4356-A665-810DE4F3F5A1}"/>
              </a:ext>
            </a:extLst>
          </p:cNvPr>
          <p:cNvGrpSpPr/>
          <p:nvPr/>
        </p:nvGrpSpPr>
        <p:grpSpPr>
          <a:xfrm>
            <a:off x="10705702" y="7735389"/>
            <a:ext cx="1193354" cy="1212688"/>
            <a:chOff x="0" y="0"/>
            <a:chExt cx="406400" cy="405371"/>
          </a:xfrm>
        </p:grpSpPr>
        <p:sp>
          <p:nvSpPr>
            <p:cNvPr id="30" name="Freeform 3">
              <a:extLst>
                <a:ext uri="{FF2B5EF4-FFF2-40B4-BE49-F238E27FC236}">
                  <a16:creationId xmlns:a16="http://schemas.microsoft.com/office/drawing/2014/main" id="{A08EC643-7218-C6CF-8F51-3C61F8D061ED}"/>
                </a:ext>
              </a:extLst>
            </p:cNvPr>
            <p:cNvSpPr/>
            <p:nvPr/>
          </p:nvSpPr>
          <p:spPr>
            <a:xfrm>
              <a:off x="0" y="0"/>
              <a:ext cx="406400" cy="405371"/>
            </a:xfrm>
            <a:custGeom>
              <a:avLst/>
              <a:gdLst/>
              <a:ahLst/>
              <a:cxnLst/>
              <a:rect l="l" t="t" r="r" b="b"/>
              <a:pathLst>
                <a:path w="406400" h="405371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id="31" name="TextBox 4">
              <a:extLst>
                <a:ext uri="{FF2B5EF4-FFF2-40B4-BE49-F238E27FC236}">
                  <a16:creationId xmlns:a16="http://schemas.microsoft.com/office/drawing/2014/main" id="{F743BB35-1F60-1801-D224-4E3294E24CC8}"/>
                </a:ext>
              </a:extLst>
            </p:cNvPr>
            <p:cNvSpPr txBox="1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1024" name="TextBox 11">
            <a:extLst>
              <a:ext uri="{FF2B5EF4-FFF2-40B4-BE49-F238E27FC236}">
                <a16:creationId xmlns:a16="http://schemas.microsoft.com/office/drawing/2014/main" id="{DD88C841-75B8-B1BE-AC19-EA984A678F43}"/>
              </a:ext>
            </a:extLst>
          </p:cNvPr>
          <p:cNvSpPr txBox="1"/>
          <p:nvPr/>
        </p:nvSpPr>
        <p:spPr>
          <a:xfrm>
            <a:off x="10839192" y="7953465"/>
            <a:ext cx="975567" cy="6220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208"/>
              </a:lnSpc>
            </a:pPr>
            <a:r>
              <a:rPr lang="en-US" sz="3600" b="1" dirty="0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02</a:t>
            </a:r>
            <a:endParaRPr lang="en-US" sz="4340" b="1" dirty="0">
              <a:solidFill>
                <a:srgbClr val="F5F5F5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</p:spTree>
    <p:extLst>
      <p:ext uri="{BB962C8B-B14F-4D97-AF65-F5344CB8AC3E}">
        <p14:creationId xmlns:p14="http://schemas.microsoft.com/office/powerpoint/2010/main" val="470473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C817BE-99EC-4B03-5B2E-745EC2D14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887" y="647700"/>
            <a:ext cx="5751012" cy="614887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AF84A51-E59F-BD95-23D6-7DFF20C7F874}"/>
              </a:ext>
            </a:extLst>
          </p:cNvPr>
          <p:cNvSpPr/>
          <p:nvPr/>
        </p:nvSpPr>
        <p:spPr>
          <a:xfrm>
            <a:off x="-1" y="0"/>
            <a:ext cx="6070875" cy="718810"/>
          </a:xfrm>
          <a:prstGeom prst="rect">
            <a:avLst/>
          </a:prstGeom>
          <a:solidFill>
            <a:srgbClr val="DDDDD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3E27B0-6271-4A65-20FB-7F3DF622848B}"/>
              </a:ext>
            </a:extLst>
          </p:cNvPr>
          <p:cNvSpPr/>
          <p:nvPr/>
        </p:nvSpPr>
        <p:spPr>
          <a:xfrm>
            <a:off x="12192000" y="0"/>
            <a:ext cx="6096000" cy="718810"/>
          </a:xfrm>
          <a:prstGeom prst="rect">
            <a:avLst/>
          </a:prstGeom>
          <a:solidFill>
            <a:srgbClr val="DDDDD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FF6A92-290E-E41A-9249-4524DDC00596}"/>
              </a:ext>
            </a:extLst>
          </p:cNvPr>
          <p:cNvSpPr/>
          <p:nvPr/>
        </p:nvSpPr>
        <p:spPr>
          <a:xfrm>
            <a:off x="6095999" y="0"/>
            <a:ext cx="6070875" cy="718810"/>
          </a:xfrm>
          <a:prstGeom prst="rect">
            <a:avLst/>
          </a:prstGeom>
          <a:solidFill>
            <a:srgbClr val="EBA40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17">
            <a:extLst>
              <a:ext uri="{FF2B5EF4-FFF2-40B4-BE49-F238E27FC236}">
                <a16:creationId xmlns:a16="http://schemas.microsoft.com/office/drawing/2014/main" id="{F491FA37-1775-FD43-5F11-DF610216C0B7}"/>
              </a:ext>
            </a:extLst>
          </p:cNvPr>
          <p:cNvSpPr txBox="1"/>
          <p:nvPr/>
        </p:nvSpPr>
        <p:spPr>
          <a:xfrm>
            <a:off x="6299062" y="-434312"/>
            <a:ext cx="5689875" cy="1097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3600" b="1" dirty="0">
                <a:solidFill>
                  <a:schemeClr val="bg1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Deep learning models</a:t>
            </a:r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93810F9A-4733-A9CA-6D8C-3F7C0B6FC9BF}"/>
              </a:ext>
            </a:extLst>
          </p:cNvPr>
          <p:cNvSpPr txBox="1"/>
          <p:nvPr/>
        </p:nvSpPr>
        <p:spPr>
          <a:xfrm>
            <a:off x="12369937" y="-434312"/>
            <a:ext cx="5689875" cy="1097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3600" b="1" dirty="0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Conclusion</a:t>
            </a:r>
            <a:endParaRPr lang="en-US" sz="3600" b="1" dirty="0">
              <a:latin typeface="Telegraf Heavy"/>
              <a:ea typeface="Telegraf Heavy"/>
              <a:cs typeface="Telegraf Heavy"/>
              <a:sym typeface="Telegraf Heavy"/>
            </a:endParaRPr>
          </a:p>
        </p:txBody>
      </p:sp>
      <p:sp>
        <p:nvSpPr>
          <p:cNvPr id="10" name="TextBox 17">
            <a:extLst>
              <a:ext uri="{FF2B5EF4-FFF2-40B4-BE49-F238E27FC236}">
                <a16:creationId xmlns:a16="http://schemas.microsoft.com/office/drawing/2014/main" id="{83A92FDA-CC0F-8FAD-3859-5531FA2DE1D2}"/>
              </a:ext>
            </a:extLst>
          </p:cNvPr>
          <p:cNvSpPr txBox="1"/>
          <p:nvPr/>
        </p:nvSpPr>
        <p:spPr>
          <a:xfrm>
            <a:off x="228187" y="-434312"/>
            <a:ext cx="5689875" cy="1097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3600" b="1" dirty="0">
                <a:latin typeface="Telegraf Heavy"/>
                <a:ea typeface="Telegraf Heavy"/>
                <a:cs typeface="Telegraf Heavy"/>
                <a:sym typeface="Telegraf Heavy"/>
              </a:rPr>
              <a:t>Base models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CEEC27C-1607-F7AE-92FD-840A46E37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058" y="876300"/>
            <a:ext cx="4343623" cy="3168813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1B207AF-E8E4-3319-E212-0CA44A372A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603701"/>
              </p:ext>
            </p:extLst>
          </p:nvPr>
        </p:nvGraphicFramePr>
        <p:xfrm>
          <a:off x="10284234" y="854059"/>
          <a:ext cx="16764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187214196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283987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R^2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0.9390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773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0.0333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087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0.0</a:t>
                      </a: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966970"/>
                  </a:ext>
                </a:extLst>
              </a:tr>
            </a:tbl>
          </a:graphicData>
        </a:graphic>
      </p:graphicFrame>
      <p:pic>
        <p:nvPicPr>
          <p:cNvPr id="14" name="Picture 2" descr="Download and share clipart about Wow Clip Art - Wow Pop Art Png, Find ...">
            <a:extLst>
              <a:ext uri="{FF2B5EF4-FFF2-40B4-BE49-F238E27FC236}">
                <a16:creationId xmlns:a16="http://schemas.microsoft.com/office/drawing/2014/main" id="{E5F1631D-9D2B-C0D4-A98B-893C4EF9F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432073">
            <a:off x="11723448" y="779507"/>
            <a:ext cx="718624" cy="424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4955592-B641-953D-86BE-29C9CBAA0B8F}"/>
              </a:ext>
            </a:extLst>
          </p:cNvPr>
          <p:cNvSpPr txBox="1"/>
          <p:nvPr/>
        </p:nvSpPr>
        <p:spPr>
          <a:xfrm>
            <a:off x="1714898" y="7295771"/>
            <a:ext cx="5257800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20"/>
              </a:lnSpc>
            </a:pPr>
            <a:r>
              <a:rPr lang="en-US" sz="2400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Very good metric’s values</a:t>
            </a:r>
            <a:endParaRPr lang="en-US" sz="2014" dirty="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ED42E9-D174-3467-C41F-A5D63EB6F745}"/>
              </a:ext>
            </a:extLst>
          </p:cNvPr>
          <p:cNvSpPr txBox="1"/>
          <p:nvPr/>
        </p:nvSpPr>
        <p:spPr>
          <a:xfrm>
            <a:off x="1714898" y="8777420"/>
            <a:ext cx="5257800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20"/>
              </a:lnSpc>
            </a:pPr>
            <a:r>
              <a:rPr lang="en-US" sz="2400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Well trained model with stable validation results. </a:t>
            </a:r>
            <a:endParaRPr lang="en-US" sz="2014" dirty="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A7CAEE-9587-540C-5AED-89E8FC4A432D}"/>
              </a:ext>
            </a:extLst>
          </p:cNvPr>
          <p:cNvSpPr txBox="1"/>
          <p:nvPr/>
        </p:nvSpPr>
        <p:spPr>
          <a:xfrm>
            <a:off x="12653687" y="7266381"/>
            <a:ext cx="5257800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20"/>
              </a:lnSpc>
            </a:pPr>
            <a:r>
              <a:rPr lang="en-US" sz="2400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Only 6% of variance is not explained by the model.</a:t>
            </a:r>
            <a:endParaRPr lang="en-US" sz="2014" dirty="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0" name="Group 2">
            <a:extLst>
              <a:ext uri="{FF2B5EF4-FFF2-40B4-BE49-F238E27FC236}">
                <a16:creationId xmlns:a16="http://schemas.microsoft.com/office/drawing/2014/main" id="{462AD82A-F45C-9F76-B2F3-39801A2FD3A1}"/>
              </a:ext>
            </a:extLst>
          </p:cNvPr>
          <p:cNvGrpSpPr/>
          <p:nvPr/>
        </p:nvGrpSpPr>
        <p:grpSpPr>
          <a:xfrm>
            <a:off x="308875" y="7048500"/>
            <a:ext cx="1193354" cy="1212688"/>
            <a:chOff x="0" y="0"/>
            <a:chExt cx="406400" cy="405371"/>
          </a:xfrm>
        </p:grpSpPr>
        <p:sp>
          <p:nvSpPr>
            <p:cNvPr id="21" name="Freeform 3">
              <a:extLst>
                <a:ext uri="{FF2B5EF4-FFF2-40B4-BE49-F238E27FC236}">
                  <a16:creationId xmlns:a16="http://schemas.microsoft.com/office/drawing/2014/main" id="{EE3D2BF7-AE0A-E679-2F0B-1F9B4B06612D}"/>
                </a:ext>
              </a:extLst>
            </p:cNvPr>
            <p:cNvSpPr/>
            <p:nvPr/>
          </p:nvSpPr>
          <p:spPr>
            <a:xfrm>
              <a:off x="0" y="0"/>
              <a:ext cx="406400" cy="405371"/>
            </a:xfrm>
            <a:custGeom>
              <a:avLst/>
              <a:gdLst/>
              <a:ahLst/>
              <a:cxnLst/>
              <a:rect l="l" t="t" r="r" b="b"/>
              <a:pathLst>
                <a:path w="406400" h="405371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id="22" name="TextBox 4">
              <a:extLst>
                <a:ext uri="{FF2B5EF4-FFF2-40B4-BE49-F238E27FC236}">
                  <a16:creationId xmlns:a16="http://schemas.microsoft.com/office/drawing/2014/main" id="{D14F2F6E-3BEE-A977-D3A8-A066EE094F17}"/>
                </a:ext>
              </a:extLst>
            </p:cNvPr>
            <p:cNvSpPr txBox="1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23" name="TextBox 11">
            <a:extLst>
              <a:ext uri="{FF2B5EF4-FFF2-40B4-BE49-F238E27FC236}">
                <a16:creationId xmlns:a16="http://schemas.microsoft.com/office/drawing/2014/main" id="{105BF3F0-ECD9-E26F-231C-7FD245BF3294}"/>
              </a:ext>
            </a:extLst>
          </p:cNvPr>
          <p:cNvSpPr txBox="1"/>
          <p:nvPr/>
        </p:nvSpPr>
        <p:spPr>
          <a:xfrm>
            <a:off x="442365" y="7266576"/>
            <a:ext cx="975567" cy="635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208"/>
              </a:lnSpc>
            </a:pPr>
            <a:r>
              <a:rPr lang="en-US" sz="3600" b="1" dirty="0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01</a:t>
            </a:r>
            <a:endParaRPr lang="en-US" sz="4340" b="1" dirty="0">
              <a:solidFill>
                <a:srgbClr val="F5F5F5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grpSp>
        <p:nvGrpSpPr>
          <p:cNvPr id="24" name="Group 2">
            <a:extLst>
              <a:ext uri="{FF2B5EF4-FFF2-40B4-BE49-F238E27FC236}">
                <a16:creationId xmlns:a16="http://schemas.microsoft.com/office/drawing/2014/main" id="{3481150F-C6E3-C89D-A4FD-F7B9D97C5850}"/>
              </a:ext>
            </a:extLst>
          </p:cNvPr>
          <p:cNvGrpSpPr/>
          <p:nvPr/>
        </p:nvGrpSpPr>
        <p:grpSpPr>
          <a:xfrm>
            <a:off x="304800" y="8521538"/>
            <a:ext cx="1193354" cy="1212688"/>
            <a:chOff x="0" y="0"/>
            <a:chExt cx="406400" cy="405371"/>
          </a:xfrm>
        </p:grpSpPr>
        <p:sp>
          <p:nvSpPr>
            <p:cNvPr id="25" name="Freeform 3">
              <a:extLst>
                <a:ext uri="{FF2B5EF4-FFF2-40B4-BE49-F238E27FC236}">
                  <a16:creationId xmlns:a16="http://schemas.microsoft.com/office/drawing/2014/main" id="{B50DA855-D96C-160C-5FEE-D6AD54A73C80}"/>
                </a:ext>
              </a:extLst>
            </p:cNvPr>
            <p:cNvSpPr/>
            <p:nvPr/>
          </p:nvSpPr>
          <p:spPr>
            <a:xfrm>
              <a:off x="0" y="0"/>
              <a:ext cx="406400" cy="405371"/>
            </a:xfrm>
            <a:custGeom>
              <a:avLst/>
              <a:gdLst/>
              <a:ahLst/>
              <a:cxnLst/>
              <a:rect l="l" t="t" r="r" b="b"/>
              <a:pathLst>
                <a:path w="406400" h="405371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id="26" name="TextBox 4">
              <a:extLst>
                <a:ext uri="{FF2B5EF4-FFF2-40B4-BE49-F238E27FC236}">
                  <a16:creationId xmlns:a16="http://schemas.microsoft.com/office/drawing/2014/main" id="{D7ADFA4B-123E-6653-8E4E-C1AE7004E7DA}"/>
                </a:ext>
              </a:extLst>
            </p:cNvPr>
            <p:cNvSpPr txBox="1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27" name="TextBox 11">
            <a:extLst>
              <a:ext uri="{FF2B5EF4-FFF2-40B4-BE49-F238E27FC236}">
                <a16:creationId xmlns:a16="http://schemas.microsoft.com/office/drawing/2014/main" id="{4F4744C2-DB29-9F5F-EF3E-283B0280E186}"/>
              </a:ext>
            </a:extLst>
          </p:cNvPr>
          <p:cNvSpPr txBox="1"/>
          <p:nvPr/>
        </p:nvSpPr>
        <p:spPr>
          <a:xfrm>
            <a:off x="438290" y="8739614"/>
            <a:ext cx="975567" cy="6220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208"/>
              </a:lnSpc>
            </a:pPr>
            <a:r>
              <a:rPr lang="en-US" sz="3600" b="1" dirty="0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02</a:t>
            </a:r>
            <a:endParaRPr lang="en-US" sz="4340" b="1" dirty="0">
              <a:solidFill>
                <a:srgbClr val="F5F5F5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grpSp>
        <p:nvGrpSpPr>
          <p:cNvPr id="28" name="Group 2">
            <a:extLst>
              <a:ext uri="{FF2B5EF4-FFF2-40B4-BE49-F238E27FC236}">
                <a16:creationId xmlns:a16="http://schemas.microsoft.com/office/drawing/2014/main" id="{BB72282C-594D-F3AF-44EA-DC4D6C7FF7A5}"/>
              </a:ext>
            </a:extLst>
          </p:cNvPr>
          <p:cNvGrpSpPr/>
          <p:nvPr/>
        </p:nvGrpSpPr>
        <p:grpSpPr>
          <a:xfrm>
            <a:off x="11243935" y="7048500"/>
            <a:ext cx="1193354" cy="1212688"/>
            <a:chOff x="0" y="0"/>
            <a:chExt cx="406400" cy="405371"/>
          </a:xfrm>
        </p:grpSpPr>
        <p:sp>
          <p:nvSpPr>
            <p:cNvPr id="29" name="Freeform 3">
              <a:extLst>
                <a:ext uri="{FF2B5EF4-FFF2-40B4-BE49-F238E27FC236}">
                  <a16:creationId xmlns:a16="http://schemas.microsoft.com/office/drawing/2014/main" id="{C31BC3FB-5B16-2FA9-280C-9D732F710D7F}"/>
                </a:ext>
              </a:extLst>
            </p:cNvPr>
            <p:cNvSpPr/>
            <p:nvPr/>
          </p:nvSpPr>
          <p:spPr>
            <a:xfrm>
              <a:off x="0" y="0"/>
              <a:ext cx="406400" cy="405371"/>
            </a:xfrm>
            <a:custGeom>
              <a:avLst/>
              <a:gdLst/>
              <a:ahLst/>
              <a:cxnLst/>
              <a:rect l="l" t="t" r="r" b="b"/>
              <a:pathLst>
                <a:path w="406400" h="405371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id="30" name="TextBox 4">
              <a:extLst>
                <a:ext uri="{FF2B5EF4-FFF2-40B4-BE49-F238E27FC236}">
                  <a16:creationId xmlns:a16="http://schemas.microsoft.com/office/drawing/2014/main" id="{F4244B80-F1FC-E394-3D63-C5AC5EFF7341}"/>
                </a:ext>
              </a:extLst>
            </p:cNvPr>
            <p:cNvSpPr txBox="1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31" name="TextBox 11">
            <a:extLst>
              <a:ext uri="{FF2B5EF4-FFF2-40B4-BE49-F238E27FC236}">
                <a16:creationId xmlns:a16="http://schemas.microsoft.com/office/drawing/2014/main" id="{003EB136-3C87-1179-AF1D-0F37595F5DAB}"/>
              </a:ext>
            </a:extLst>
          </p:cNvPr>
          <p:cNvSpPr txBox="1"/>
          <p:nvPr/>
        </p:nvSpPr>
        <p:spPr>
          <a:xfrm>
            <a:off x="11377425" y="7266576"/>
            <a:ext cx="975567" cy="635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208"/>
              </a:lnSpc>
            </a:pPr>
            <a:r>
              <a:rPr lang="en-US" sz="3600" b="1" dirty="0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03</a:t>
            </a:r>
            <a:endParaRPr lang="en-US" sz="4340" b="1" dirty="0">
              <a:solidFill>
                <a:srgbClr val="F5F5F5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7CF2AA-9DFB-BB97-84DD-9EE73CE14A67}"/>
              </a:ext>
            </a:extLst>
          </p:cNvPr>
          <p:cNvSpPr txBox="1"/>
          <p:nvPr/>
        </p:nvSpPr>
        <p:spPr>
          <a:xfrm>
            <a:off x="12653687" y="8588835"/>
            <a:ext cx="52578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20"/>
              </a:lnSpc>
            </a:pPr>
            <a:r>
              <a:rPr lang="en-US" sz="2400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Slightly worse than GRU model, but needs more time to train. Maybe should use other features.</a:t>
            </a:r>
            <a:endParaRPr lang="en-US" sz="2014" dirty="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4" name="Group 2">
            <a:extLst>
              <a:ext uri="{FF2B5EF4-FFF2-40B4-BE49-F238E27FC236}">
                <a16:creationId xmlns:a16="http://schemas.microsoft.com/office/drawing/2014/main" id="{76CDCB48-0549-A88E-5F4C-5B12DB09B53D}"/>
              </a:ext>
            </a:extLst>
          </p:cNvPr>
          <p:cNvGrpSpPr/>
          <p:nvPr/>
        </p:nvGrpSpPr>
        <p:grpSpPr>
          <a:xfrm>
            <a:off x="11243935" y="8370954"/>
            <a:ext cx="1193354" cy="1212688"/>
            <a:chOff x="0" y="0"/>
            <a:chExt cx="406400" cy="405371"/>
          </a:xfrm>
        </p:grpSpPr>
        <p:sp>
          <p:nvSpPr>
            <p:cNvPr id="35" name="Freeform 3">
              <a:extLst>
                <a:ext uri="{FF2B5EF4-FFF2-40B4-BE49-F238E27FC236}">
                  <a16:creationId xmlns:a16="http://schemas.microsoft.com/office/drawing/2014/main" id="{E9EDAE09-570F-F303-3BFB-3736EB3D87C8}"/>
                </a:ext>
              </a:extLst>
            </p:cNvPr>
            <p:cNvSpPr/>
            <p:nvPr/>
          </p:nvSpPr>
          <p:spPr>
            <a:xfrm>
              <a:off x="0" y="0"/>
              <a:ext cx="406400" cy="405371"/>
            </a:xfrm>
            <a:custGeom>
              <a:avLst/>
              <a:gdLst/>
              <a:ahLst/>
              <a:cxnLst/>
              <a:rect l="l" t="t" r="r" b="b"/>
              <a:pathLst>
                <a:path w="406400" h="405371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id="36" name="TextBox 4">
              <a:extLst>
                <a:ext uri="{FF2B5EF4-FFF2-40B4-BE49-F238E27FC236}">
                  <a16:creationId xmlns:a16="http://schemas.microsoft.com/office/drawing/2014/main" id="{01CE85D7-E479-6681-620D-EA997895A33C}"/>
                </a:ext>
              </a:extLst>
            </p:cNvPr>
            <p:cNvSpPr txBox="1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37" name="TextBox 11">
            <a:extLst>
              <a:ext uri="{FF2B5EF4-FFF2-40B4-BE49-F238E27FC236}">
                <a16:creationId xmlns:a16="http://schemas.microsoft.com/office/drawing/2014/main" id="{86473714-EC9E-2986-F3BD-8F5B75D68BB7}"/>
              </a:ext>
            </a:extLst>
          </p:cNvPr>
          <p:cNvSpPr txBox="1"/>
          <p:nvPr/>
        </p:nvSpPr>
        <p:spPr>
          <a:xfrm>
            <a:off x="11377425" y="8589030"/>
            <a:ext cx="975567" cy="635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208"/>
              </a:lnSpc>
            </a:pPr>
            <a:r>
              <a:rPr lang="en-US" sz="3600" b="1" dirty="0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04</a:t>
            </a:r>
            <a:endParaRPr lang="en-US" sz="4340" b="1" dirty="0">
              <a:solidFill>
                <a:srgbClr val="F5F5F5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31E67BFA-A038-53EA-CC5D-254C8E8D81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8062" y="4084099"/>
            <a:ext cx="12369938" cy="2789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47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98F9F-6106-F13D-58E0-E2BD848A6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9967A0A-FB05-0A6C-E7EF-AA33F82920F0}"/>
              </a:ext>
            </a:extLst>
          </p:cNvPr>
          <p:cNvSpPr/>
          <p:nvPr/>
        </p:nvSpPr>
        <p:spPr>
          <a:xfrm>
            <a:off x="-1" y="0"/>
            <a:ext cx="6070875" cy="718810"/>
          </a:xfrm>
          <a:prstGeom prst="rect">
            <a:avLst/>
          </a:prstGeom>
          <a:solidFill>
            <a:srgbClr val="DDDDD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818EFF-2AB9-3121-EF5D-6DD894D8C5EC}"/>
              </a:ext>
            </a:extLst>
          </p:cNvPr>
          <p:cNvSpPr/>
          <p:nvPr/>
        </p:nvSpPr>
        <p:spPr>
          <a:xfrm>
            <a:off x="12192000" y="0"/>
            <a:ext cx="6096000" cy="718810"/>
          </a:xfrm>
          <a:prstGeom prst="rect">
            <a:avLst/>
          </a:prstGeom>
          <a:solidFill>
            <a:srgbClr val="EBA40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5FC59C-403F-21EF-7061-AE31D3BC4218}"/>
              </a:ext>
            </a:extLst>
          </p:cNvPr>
          <p:cNvSpPr/>
          <p:nvPr/>
        </p:nvSpPr>
        <p:spPr>
          <a:xfrm>
            <a:off x="6095999" y="0"/>
            <a:ext cx="6070875" cy="718810"/>
          </a:xfrm>
          <a:prstGeom prst="rect">
            <a:avLst/>
          </a:prstGeom>
          <a:solidFill>
            <a:srgbClr val="DDDDD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17">
            <a:extLst>
              <a:ext uri="{FF2B5EF4-FFF2-40B4-BE49-F238E27FC236}">
                <a16:creationId xmlns:a16="http://schemas.microsoft.com/office/drawing/2014/main" id="{8F94125D-0811-93B1-D2E7-7B1A7E9A741C}"/>
              </a:ext>
            </a:extLst>
          </p:cNvPr>
          <p:cNvSpPr txBox="1"/>
          <p:nvPr/>
        </p:nvSpPr>
        <p:spPr>
          <a:xfrm>
            <a:off x="6299062" y="-434312"/>
            <a:ext cx="5689875" cy="1097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3600" b="1" dirty="0">
                <a:latin typeface="Telegraf Heavy"/>
                <a:ea typeface="Telegraf Heavy"/>
                <a:cs typeface="Telegraf Heavy"/>
                <a:sym typeface="Telegraf Heavy"/>
              </a:rPr>
              <a:t>Deep learning models</a:t>
            </a:r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3FD669B4-17AA-0E61-36DB-274EB756AD38}"/>
              </a:ext>
            </a:extLst>
          </p:cNvPr>
          <p:cNvSpPr txBox="1"/>
          <p:nvPr/>
        </p:nvSpPr>
        <p:spPr>
          <a:xfrm>
            <a:off x="12369937" y="-434312"/>
            <a:ext cx="5689875" cy="1097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3600" b="1" dirty="0">
                <a:solidFill>
                  <a:schemeClr val="bg1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Conclusion</a:t>
            </a:r>
          </a:p>
        </p:txBody>
      </p:sp>
      <p:sp>
        <p:nvSpPr>
          <p:cNvPr id="10" name="TextBox 17">
            <a:extLst>
              <a:ext uri="{FF2B5EF4-FFF2-40B4-BE49-F238E27FC236}">
                <a16:creationId xmlns:a16="http://schemas.microsoft.com/office/drawing/2014/main" id="{067A412A-9C46-1BC3-3458-FBDE1CC087D7}"/>
              </a:ext>
            </a:extLst>
          </p:cNvPr>
          <p:cNvSpPr txBox="1"/>
          <p:nvPr/>
        </p:nvSpPr>
        <p:spPr>
          <a:xfrm>
            <a:off x="228187" y="-434312"/>
            <a:ext cx="5689875" cy="1097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3600" b="1" dirty="0">
                <a:latin typeface="Telegraf Heavy"/>
                <a:ea typeface="Telegraf Heavy"/>
                <a:cs typeface="Telegraf Heavy"/>
                <a:sym typeface="Telegraf Heavy"/>
              </a:rPr>
              <a:t>Base models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1867F7-AD20-0A99-EE81-D5E3553E2C71}"/>
              </a:ext>
            </a:extLst>
          </p:cNvPr>
          <p:cNvSpPr txBox="1"/>
          <p:nvPr/>
        </p:nvSpPr>
        <p:spPr>
          <a:xfrm>
            <a:off x="12571911" y="5215328"/>
            <a:ext cx="47244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20"/>
              </a:lnSpc>
            </a:pPr>
            <a:r>
              <a:rPr lang="en-US" sz="2400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Try new more powerful models for long-time predictions like Transformers. </a:t>
            </a:r>
            <a:endParaRPr lang="en-US" sz="2014" dirty="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0" name="Group 2">
            <a:extLst>
              <a:ext uri="{FF2B5EF4-FFF2-40B4-BE49-F238E27FC236}">
                <a16:creationId xmlns:a16="http://schemas.microsoft.com/office/drawing/2014/main" id="{992662AD-60A7-C4CD-FC0E-1A64297B827B}"/>
              </a:ext>
            </a:extLst>
          </p:cNvPr>
          <p:cNvGrpSpPr/>
          <p:nvPr/>
        </p:nvGrpSpPr>
        <p:grpSpPr>
          <a:xfrm>
            <a:off x="11047911" y="5147593"/>
            <a:ext cx="1193354" cy="1212688"/>
            <a:chOff x="0" y="0"/>
            <a:chExt cx="406400" cy="405371"/>
          </a:xfrm>
        </p:grpSpPr>
        <p:sp>
          <p:nvSpPr>
            <p:cNvPr id="21" name="Freeform 3">
              <a:extLst>
                <a:ext uri="{FF2B5EF4-FFF2-40B4-BE49-F238E27FC236}">
                  <a16:creationId xmlns:a16="http://schemas.microsoft.com/office/drawing/2014/main" id="{D557A535-3CF9-368A-84E0-6344B7DBA6F3}"/>
                </a:ext>
              </a:extLst>
            </p:cNvPr>
            <p:cNvSpPr/>
            <p:nvPr/>
          </p:nvSpPr>
          <p:spPr>
            <a:xfrm>
              <a:off x="0" y="0"/>
              <a:ext cx="406400" cy="405371"/>
            </a:xfrm>
            <a:custGeom>
              <a:avLst/>
              <a:gdLst/>
              <a:ahLst/>
              <a:cxnLst/>
              <a:rect l="l" t="t" r="r" b="b"/>
              <a:pathLst>
                <a:path w="406400" h="405371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id="22" name="TextBox 4">
              <a:extLst>
                <a:ext uri="{FF2B5EF4-FFF2-40B4-BE49-F238E27FC236}">
                  <a16:creationId xmlns:a16="http://schemas.microsoft.com/office/drawing/2014/main" id="{5220E1E3-72FF-436F-C748-6D27147F6AD6}"/>
                </a:ext>
              </a:extLst>
            </p:cNvPr>
            <p:cNvSpPr txBox="1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pic>
        <p:nvPicPr>
          <p:cNvPr id="4" name="Graphic 3" descr="Body builder with solid fill">
            <a:extLst>
              <a:ext uri="{FF2B5EF4-FFF2-40B4-BE49-F238E27FC236}">
                <a16:creationId xmlns:a16="http://schemas.microsoft.com/office/drawing/2014/main" id="{4DA30BD2-5EDC-2464-8687-D702505DE9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07909" y="5296047"/>
            <a:ext cx="914400" cy="914400"/>
          </a:xfrm>
          <a:prstGeom prst="rect">
            <a:avLst/>
          </a:prstGeom>
        </p:spPr>
      </p:pic>
      <p:grpSp>
        <p:nvGrpSpPr>
          <p:cNvPr id="11" name="Group 2">
            <a:extLst>
              <a:ext uri="{FF2B5EF4-FFF2-40B4-BE49-F238E27FC236}">
                <a16:creationId xmlns:a16="http://schemas.microsoft.com/office/drawing/2014/main" id="{CC7A37E1-AD84-F52A-4B1D-2D46C032CC0A}"/>
              </a:ext>
            </a:extLst>
          </p:cNvPr>
          <p:cNvGrpSpPr/>
          <p:nvPr/>
        </p:nvGrpSpPr>
        <p:grpSpPr>
          <a:xfrm>
            <a:off x="1028700" y="1028700"/>
            <a:ext cx="16230600" cy="3618178"/>
            <a:chOff x="0" y="0"/>
            <a:chExt cx="4274726" cy="952936"/>
          </a:xfrm>
        </p:grpSpPr>
        <p:sp>
          <p:nvSpPr>
            <p:cNvPr id="15" name="Freeform 3">
              <a:extLst>
                <a:ext uri="{FF2B5EF4-FFF2-40B4-BE49-F238E27FC236}">
                  <a16:creationId xmlns:a16="http://schemas.microsoft.com/office/drawing/2014/main" id="{60C490B0-FE63-F78F-D432-5E00CCC0D7D6}"/>
                </a:ext>
              </a:extLst>
            </p:cNvPr>
            <p:cNvSpPr/>
            <p:nvPr/>
          </p:nvSpPr>
          <p:spPr>
            <a:xfrm>
              <a:off x="0" y="0"/>
              <a:ext cx="4274726" cy="952936"/>
            </a:xfrm>
            <a:custGeom>
              <a:avLst/>
              <a:gdLst/>
              <a:ahLst/>
              <a:cxnLst/>
              <a:rect l="l" t="t" r="r" b="b"/>
              <a:pathLst>
                <a:path w="4274726" h="95293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928609"/>
                  </a:lnTo>
                  <a:cubicBezTo>
                    <a:pt x="4274726" y="935061"/>
                    <a:pt x="4272163" y="941248"/>
                    <a:pt x="4267601" y="945810"/>
                  </a:cubicBezTo>
                  <a:cubicBezTo>
                    <a:pt x="4263039" y="950373"/>
                    <a:pt x="4256851" y="952936"/>
                    <a:pt x="4250399" y="952936"/>
                  </a:cubicBezTo>
                  <a:lnTo>
                    <a:pt x="24327" y="952936"/>
                  </a:lnTo>
                  <a:cubicBezTo>
                    <a:pt x="10891" y="952936"/>
                    <a:pt x="0" y="942044"/>
                    <a:pt x="0" y="928609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id="16" name="TextBox 4">
              <a:extLst>
                <a:ext uri="{FF2B5EF4-FFF2-40B4-BE49-F238E27FC236}">
                  <a16:creationId xmlns:a16="http://schemas.microsoft.com/office/drawing/2014/main" id="{29E6A052-AFCC-EA94-44B6-664AEEECF1B8}"/>
                </a:ext>
              </a:extLst>
            </p:cNvPr>
            <p:cNvSpPr txBox="1"/>
            <p:nvPr/>
          </p:nvSpPr>
          <p:spPr>
            <a:xfrm>
              <a:off x="0" y="-38100"/>
              <a:ext cx="4274726" cy="9910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32" name="TextBox 39">
            <a:extLst>
              <a:ext uri="{FF2B5EF4-FFF2-40B4-BE49-F238E27FC236}">
                <a16:creationId xmlns:a16="http://schemas.microsoft.com/office/drawing/2014/main" id="{7B7728EB-E983-F0BF-35E1-7ADF02E714A2}"/>
              </a:ext>
            </a:extLst>
          </p:cNvPr>
          <p:cNvSpPr txBox="1"/>
          <p:nvPr/>
        </p:nvSpPr>
        <p:spPr>
          <a:xfrm>
            <a:off x="3319799" y="1852073"/>
            <a:ext cx="11648401" cy="2066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00"/>
              </a:lnSpc>
            </a:pPr>
            <a:r>
              <a:rPr lang="en-US" sz="8000" b="1" dirty="0">
                <a:solidFill>
                  <a:srgbClr val="ECA406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Current problems and Future Changes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3300772-DC3A-97A7-2B7F-CC07F1EBF8F8}"/>
              </a:ext>
            </a:extLst>
          </p:cNvPr>
          <p:cNvSpPr txBox="1"/>
          <p:nvPr/>
        </p:nvSpPr>
        <p:spPr>
          <a:xfrm>
            <a:off x="2485209" y="5143500"/>
            <a:ext cx="4880066" cy="1059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20"/>
              </a:lnSpc>
            </a:pPr>
            <a:r>
              <a:rPr lang="en-US" sz="2014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Not enough computer power for Random Search in Deep Learning models to find best hyperparameters</a:t>
            </a:r>
          </a:p>
        </p:txBody>
      </p:sp>
      <p:grpSp>
        <p:nvGrpSpPr>
          <p:cNvPr id="39" name="Group 2">
            <a:extLst>
              <a:ext uri="{FF2B5EF4-FFF2-40B4-BE49-F238E27FC236}">
                <a16:creationId xmlns:a16="http://schemas.microsoft.com/office/drawing/2014/main" id="{95F47895-8BD1-19D8-B142-36B5C55995DB}"/>
              </a:ext>
            </a:extLst>
          </p:cNvPr>
          <p:cNvGrpSpPr/>
          <p:nvPr/>
        </p:nvGrpSpPr>
        <p:grpSpPr>
          <a:xfrm>
            <a:off x="965563" y="5147593"/>
            <a:ext cx="1193354" cy="1212688"/>
            <a:chOff x="0" y="0"/>
            <a:chExt cx="406400" cy="405371"/>
          </a:xfrm>
        </p:grpSpPr>
        <p:sp>
          <p:nvSpPr>
            <p:cNvPr id="40" name="Freeform 3">
              <a:extLst>
                <a:ext uri="{FF2B5EF4-FFF2-40B4-BE49-F238E27FC236}">
                  <a16:creationId xmlns:a16="http://schemas.microsoft.com/office/drawing/2014/main" id="{22212628-199B-588F-4506-43460918F9F1}"/>
                </a:ext>
              </a:extLst>
            </p:cNvPr>
            <p:cNvSpPr/>
            <p:nvPr/>
          </p:nvSpPr>
          <p:spPr>
            <a:xfrm>
              <a:off x="0" y="0"/>
              <a:ext cx="406400" cy="405371"/>
            </a:xfrm>
            <a:custGeom>
              <a:avLst/>
              <a:gdLst/>
              <a:ahLst/>
              <a:cxnLst/>
              <a:rect l="l" t="t" r="r" b="b"/>
              <a:pathLst>
                <a:path w="406400" h="405371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id="41" name="TextBox 4">
              <a:extLst>
                <a:ext uri="{FF2B5EF4-FFF2-40B4-BE49-F238E27FC236}">
                  <a16:creationId xmlns:a16="http://schemas.microsoft.com/office/drawing/2014/main" id="{1D394B4A-4B70-4768-811C-3FFAC2CBE076}"/>
                </a:ext>
              </a:extLst>
            </p:cNvPr>
            <p:cNvSpPr txBox="1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pic>
        <p:nvPicPr>
          <p:cNvPr id="45" name="Graphic 44" descr="Man with cane with solid fill">
            <a:extLst>
              <a:ext uri="{FF2B5EF4-FFF2-40B4-BE49-F238E27FC236}">
                <a16:creationId xmlns:a16="http://schemas.microsoft.com/office/drawing/2014/main" id="{FD6BDF85-A196-09F3-D97E-6F90617ADB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5040" y="5275364"/>
            <a:ext cx="914400" cy="91440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72188CE6-E13D-163A-2197-CEF9E12D05AD}"/>
              </a:ext>
            </a:extLst>
          </p:cNvPr>
          <p:cNvSpPr txBox="1"/>
          <p:nvPr/>
        </p:nvSpPr>
        <p:spPr>
          <a:xfrm>
            <a:off x="2506980" y="6688055"/>
            <a:ext cx="4858295" cy="1059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20"/>
              </a:lnSpc>
            </a:pPr>
            <a:r>
              <a:rPr lang="en-US" sz="2014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Differences in applied packages between Collab and Jupiter notebooks</a:t>
            </a:r>
          </a:p>
        </p:txBody>
      </p:sp>
      <p:grpSp>
        <p:nvGrpSpPr>
          <p:cNvPr id="47" name="Group 2">
            <a:extLst>
              <a:ext uri="{FF2B5EF4-FFF2-40B4-BE49-F238E27FC236}">
                <a16:creationId xmlns:a16="http://schemas.microsoft.com/office/drawing/2014/main" id="{12656E2D-408F-3CB2-5608-36793CE1C5FC}"/>
              </a:ext>
            </a:extLst>
          </p:cNvPr>
          <p:cNvGrpSpPr/>
          <p:nvPr/>
        </p:nvGrpSpPr>
        <p:grpSpPr>
          <a:xfrm>
            <a:off x="952500" y="6611599"/>
            <a:ext cx="1193354" cy="1212688"/>
            <a:chOff x="0" y="0"/>
            <a:chExt cx="406400" cy="405371"/>
          </a:xfrm>
        </p:grpSpPr>
        <p:sp>
          <p:nvSpPr>
            <p:cNvPr id="48" name="Freeform 3">
              <a:extLst>
                <a:ext uri="{FF2B5EF4-FFF2-40B4-BE49-F238E27FC236}">
                  <a16:creationId xmlns:a16="http://schemas.microsoft.com/office/drawing/2014/main" id="{25D9FBCB-30FF-D9C6-BA4E-9E279E25BB7E}"/>
                </a:ext>
              </a:extLst>
            </p:cNvPr>
            <p:cNvSpPr/>
            <p:nvPr/>
          </p:nvSpPr>
          <p:spPr>
            <a:xfrm>
              <a:off x="0" y="0"/>
              <a:ext cx="406400" cy="405371"/>
            </a:xfrm>
            <a:custGeom>
              <a:avLst/>
              <a:gdLst/>
              <a:ahLst/>
              <a:cxnLst/>
              <a:rect l="l" t="t" r="r" b="b"/>
              <a:pathLst>
                <a:path w="406400" h="405371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id="49" name="TextBox 4">
              <a:extLst>
                <a:ext uri="{FF2B5EF4-FFF2-40B4-BE49-F238E27FC236}">
                  <a16:creationId xmlns:a16="http://schemas.microsoft.com/office/drawing/2014/main" id="{2507F988-49AC-9C2C-552F-02A5D5384C27}"/>
                </a:ext>
              </a:extLst>
            </p:cNvPr>
            <p:cNvSpPr txBox="1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pic>
        <p:nvPicPr>
          <p:cNvPr id="52" name="Graphic 51" descr="Questions with solid fill">
            <a:extLst>
              <a:ext uri="{FF2B5EF4-FFF2-40B4-BE49-F238E27FC236}">
                <a16:creationId xmlns:a16="http://schemas.microsoft.com/office/drawing/2014/main" id="{69CAC132-B920-9E80-A3B1-5AAACE2F3C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4085" y="6747018"/>
            <a:ext cx="914400" cy="91440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36996045-7E30-BEE5-3F1E-16470F036803}"/>
              </a:ext>
            </a:extLst>
          </p:cNvPr>
          <p:cNvSpPr txBox="1"/>
          <p:nvPr/>
        </p:nvSpPr>
        <p:spPr>
          <a:xfrm>
            <a:off x="12571911" y="6747070"/>
            <a:ext cx="4724400" cy="14362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20"/>
              </a:lnSpc>
            </a:pPr>
            <a:r>
              <a:rPr lang="en-US" sz="2400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Try to find good features which are not about energy source like holiday, temperature, region and others.</a:t>
            </a:r>
            <a:endParaRPr lang="en-US" sz="2014" dirty="0">
              <a:solidFill>
                <a:srgbClr val="1A1A1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54" name="Group 2">
            <a:extLst>
              <a:ext uri="{FF2B5EF4-FFF2-40B4-BE49-F238E27FC236}">
                <a16:creationId xmlns:a16="http://schemas.microsoft.com/office/drawing/2014/main" id="{F44C002E-3315-C2FE-4DF9-5BE05557C3A6}"/>
              </a:ext>
            </a:extLst>
          </p:cNvPr>
          <p:cNvGrpSpPr/>
          <p:nvPr/>
        </p:nvGrpSpPr>
        <p:grpSpPr>
          <a:xfrm>
            <a:off x="11047911" y="6679335"/>
            <a:ext cx="1193354" cy="1212688"/>
            <a:chOff x="0" y="0"/>
            <a:chExt cx="406400" cy="405371"/>
          </a:xfrm>
        </p:grpSpPr>
        <p:sp>
          <p:nvSpPr>
            <p:cNvPr id="55" name="Freeform 3">
              <a:extLst>
                <a:ext uri="{FF2B5EF4-FFF2-40B4-BE49-F238E27FC236}">
                  <a16:creationId xmlns:a16="http://schemas.microsoft.com/office/drawing/2014/main" id="{4730054E-304E-87B3-12D9-1E96280062FC}"/>
                </a:ext>
              </a:extLst>
            </p:cNvPr>
            <p:cNvSpPr/>
            <p:nvPr/>
          </p:nvSpPr>
          <p:spPr>
            <a:xfrm>
              <a:off x="0" y="0"/>
              <a:ext cx="406400" cy="405371"/>
            </a:xfrm>
            <a:custGeom>
              <a:avLst/>
              <a:gdLst/>
              <a:ahLst/>
              <a:cxnLst/>
              <a:rect l="l" t="t" r="r" b="b"/>
              <a:pathLst>
                <a:path w="406400" h="405371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id="56" name="TextBox 4">
              <a:extLst>
                <a:ext uri="{FF2B5EF4-FFF2-40B4-BE49-F238E27FC236}">
                  <a16:creationId xmlns:a16="http://schemas.microsoft.com/office/drawing/2014/main" id="{D77C4875-AAB9-C3F6-AB13-13024CEF6ACD}"/>
                </a:ext>
              </a:extLst>
            </p:cNvPr>
            <p:cNvSpPr txBox="1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pic>
        <p:nvPicPr>
          <p:cNvPr id="59" name="Graphic 58" descr="Open book with solid fill">
            <a:extLst>
              <a:ext uri="{FF2B5EF4-FFF2-40B4-BE49-F238E27FC236}">
                <a16:creationId xmlns:a16="http://schemas.microsoft.com/office/drawing/2014/main" id="{3912675F-C3D3-B181-9153-7E45A3227E3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187388" y="684974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369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1"/>
          <p:cNvSpPr/>
          <p:nvPr/>
        </p:nvSpPr>
        <p:spPr>
          <a:xfrm>
            <a:off x="2020566" y="8071439"/>
            <a:ext cx="888295" cy="754243"/>
          </a:xfrm>
          <a:custGeom>
            <a:avLst/>
            <a:gdLst/>
            <a:ahLst/>
            <a:cxnLst/>
            <a:rect l="l" t="t" r="r" b="b"/>
            <a:pathLst>
              <a:path w="888295" h="754243">
                <a:moveTo>
                  <a:pt x="0" y="0"/>
                </a:moveTo>
                <a:lnTo>
                  <a:pt x="888295" y="0"/>
                </a:lnTo>
                <a:lnTo>
                  <a:pt x="888295" y="754243"/>
                </a:lnTo>
                <a:lnTo>
                  <a:pt x="0" y="7542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293967" y="2544439"/>
            <a:ext cx="15700066" cy="2949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41"/>
              </a:lnSpc>
            </a:pPr>
            <a:r>
              <a:rPr lang="en-US" sz="16243" b="1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Thank You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5061094"/>
            <a:ext cx="16230600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spc="1058">
                <a:solidFill>
                  <a:srgbClr val="ECA406"/>
                </a:solidFill>
                <a:latin typeface="Poppins"/>
                <a:ea typeface="Poppins"/>
                <a:cs typeface="Poppins"/>
                <a:sym typeface="Poppins"/>
              </a:rPr>
              <a:t>FOR YOUR TIME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078805" y="8025650"/>
            <a:ext cx="3503900" cy="76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5F5F5"/>
                </a:solidFill>
                <a:latin typeface="Telegraf"/>
                <a:ea typeface="Telegraf"/>
                <a:cs typeface="Telegraf"/>
                <a:sym typeface="Telegraf"/>
              </a:rPr>
              <a:t>Fauget Inc.</a:t>
            </a:r>
          </a:p>
        </p:txBody>
      </p:sp>
      <p:grpSp>
        <p:nvGrpSpPr>
          <p:cNvPr id="17" name="Group 2">
            <a:extLst>
              <a:ext uri="{FF2B5EF4-FFF2-40B4-BE49-F238E27FC236}">
                <a16:creationId xmlns:a16="http://schemas.microsoft.com/office/drawing/2014/main" id="{5C82074C-2BBA-CF80-D40C-F12C7BC123EB}"/>
              </a:ext>
            </a:extLst>
          </p:cNvPr>
          <p:cNvGrpSpPr/>
          <p:nvPr/>
        </p:nvGrpSpPr>
        <p:grpSpPr>
          <a:xfrm>
            <a:off x="7420906" y="7638820"/>
            <a:ext cx="3579538" cy="1619480"/>
            <a:chOff x="0" y="0"/>
            <a:chExt cx="942759" cy="426530"/>
          </a:xfrm>
        </p:grpSpPr>
        <p:sp>
          <p:nvSpPr>
            <p:cNvPr id="18" name="Freeform 3">
              <a:extLst>
                <a:ext uri="{FF2B5EF4-FFF2-40B4-BE49-F238E27FC236}">
                  <a16:creationId xmlns:a16="http://schemas.microsoft.com/office/drawing/2014/main" id="{1D51A5E7-381C-0470-CF6F-AF4EC9A568AE}"/>
                </a:ext>
              </a:extLst>
            </p:cNvPr>
            <p:cNvSpPr/>
            <p:nvPr/>
          </p:nvSpPr>
          <p:spPr>
            <a:xfrm>
              <a:off x="0" y="0"/>
              <a:ext cx="942759" cy="426530"/>
            </a:xfrm>
            <a:custGeom>
              <a:avLst/>
              <a:gdLst/>
              <a:ahLst/>
              <a:cxnLst/>
              <a:rect l="l" t="t" r="r" b="b"/>
              <a:pathLst>
                <a:path w="942759" h="426530">
                  <a:moveTo>
                    <a:pt x="110304" y="0"/>
                  </a:moveTo>
                  <a:lnTo>
                    <a:pt x="832455" y="0"/>
                  </a:lnTo>
                  <a:cubicBezTo>
                    <a:pt x="893374" y="0"/>
                    <a:pt x="942759" y="49385"/>
                    <a:pt x="942759" y="110304"/>
                  </a:cubicBezTo>
                  <a:lnTo>
                    <a:pt x="942759" y="316225"/>
                  </a:lnTo>
                  <a:cubicBezTo>
                    <a:pt x="942759" y="377145"/>
                    <a:pt x="893374" y="426530"/>
                    <a:pt x="832455" y="426530"/>
                  </a:cubicBezTo>
                  <a:lnTo>
                    <a:pt x="110304" y="426530"/>
                  </a:lnTo>
                  <a:cubicBezTo>
                    <a:pt x="49385" y="426530"/>
                    <a:pt x="0" y="377145"/>
                    <a:pt x="0" y="316225"/>
                  </a:cubicBezTo>
                  <a:lnTo>
                    <a:pt x="0" y="110304"/>
                  </a:lnTo>
                  <a:cubicBezTo>
                    <a:pt x="0" y="49385"/>
                    <a:pt x="49385" y="0"/>
                    <a:pt x="110304" y="0"/>
                  </a:cubicBezTo>
                  <a:close/>
                </a:path>
              </a:pathLst>
            </a:custGeom>
            <a:solidFill>
              <a:srgbClr val="DDDDDD"/>
            </a:solidFill>
          </p:spPr>
        </p:sp>
        <p:sp>
          <p:nvSpPr>
            <p:cNvPr id="19" name="TextBox 4">
              <a:extLst>
                <a:ext uri="{FF2B5EF4-FFF2-40B4-BE49-F238E27FC236}">
                  <a16:creationId xmlns:a16="http://schemas.microsoft.com/office/drawing/2014/main" id="{A95FE60C-24F0-B151-712C-D4C9BA00D32C}"/>
                </a:ext>
              </a:extLst>
            </p:cNvPr>
            <p:cNvSpPr txBox="1"/>
            <p:nvPr/>
          </p:nvSpPr>
          <p:spPr>
            <a:xfrm>
              <a:off x="0" y="-38100"/>
              <a:ext cx="942759" cy="464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20" name="Group 5">
            <a:extLst>
              <a:ext uri="{FF2B5EF4-FFF2-40B4-BE49-F238E27FC236}">
                <a16:creationId xmlns:a16="http://schemas.microsoft.com/office/drawing/2014/main" id="{305AED95-EFA5-F1EC-7C23-5AB52508B115}"/>
              </a:ext>
            </a:extLst>
          </p:cNvPr>
          <p:cNvGrpSpPr/>
          <p:nvPr/>
        </p:nvGrpSpPr>
        <p:grpSpPr>
          <a:xfrm>
            <a:off x="1028700" y="7638820"/>
            <a:ext cx="6087406" cy="1619480"/>
            <a:chOff x="0" y="0"/>
            <a:chExt cx="1603267" cy="426530"/>
          </a:xfrm>
        </p:grpSpPr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014BA8D4-5FE7-3911-C759-8B201A103C15}"/>
                </a:ext>
              </a:extLst>
            </p:cNvPr>
            <p:cNvSpPr/>
            <p:nvPr/>
          </p:nvSpPr>
          <p:spPr>
            <a:xfrm>
              <a:off x="0" y="0"/>
              <a:ext cx="1603267" cy="426530"/>
            </a:xfrm>
            <a:custGeom>
              <a:avLst/>
              <a:gdLst/>
              <a:ahLst/>
              <a:cxnLst/>
              <a:rect l="l" t="t" r="r" b="b"/>
              <a:pathLst>
                <a:path w="1603267" h="426530">
                  <a:moveTo>
                    <a:pt x="64861" y="0"/>
                  </a:moveTo>
                  <a:lnTo>
                    <a:pt x="1538406" y="0"/>
                  </a:lnTo>
                  <a:cubicBezTo>
                    <a:pt x="1574228" y="0"/>
                    <a:pt x="1603267" y="29039"/>
                    <a:pt x="1603267" y="64861"/>
                  </a:cubicBezTo>
                  <a:lnTo>
                    <a:pt x="1603267" y="361668"/>
                  </a:lnTo>
                  <a:cubicBezTo>
                    <a:pt x="1603267" y="397490"/>
                    <a:pt x="1574228" y="426530"/>
                    <a:pt x="1538406" y="426530"/>
                  </a:cubicBezTo>
                  <a:lnTo>
                    <a:pt x="64861" y="426530"/>
                  </a:lnTo>
                  <a:cubicBezTo>
                    <a:pt x="47659" y="426530"/>
                    <a:pt x="31161" y="419696"/>
                    <a:pt x="18997" y="407532"/>
                  </a:cubicBezTo>
                  <a:cubicBezTo>
                    <a:pt x="6834" y="395368"/>
                    <a:pt x="0" y="378870"/>
                    <a:pt x="0" y="361668"/>
                  </a:cubicBezTo>
                  <a:lnTo>
                    <a:pt x="0" y="64861"/>
                  </a:lnTo>
                  <a:cubicBezTo>
                    <a:pt x="0" y="29039"/>
                    <a:pt x="29039" y="0"/>
                    <a:pt x="64861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id="22" name="TextBox 7">
              <a:extLst>
                <a:ext uri="{FF2B5EF4-FFF2-40B4-BE49-F238E27FC236}">
                  <a16:creationId xmlns:a16="http://schemas.microsoft.com/office/drawing/2014/main" id="{0F4BE1E1-156F-0371-1187-534D82C6E1A1}"/>
                </a:ext>
              </a:extLst>
            </p:cNvPr>
            <p:cNvSpPr txBox="1"/>
            <p:nvPr/>
          </p:nvSpPr>
          <p:spPr>
            <a:xfrm>
              <a:off x="0" y="-38100"/>
              <a:ext cx="1603267" cy="464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23" name="TextBox 15">
            <a:extLst>
              <a:ext uri="{FF2B5EF4-FFF2-40B4-BE49-F238E27FC236}">
                <a16:creationId xmlns:a16="http://schemas.microsoft.com/office/drawing/2014/main" id="{F3488817-B71C-56D2-9073-6C85EDFADE42}"/>
              </a:ext>
            </a:extLst>
          </p:cNvPr>
          <p:cNvSpPr txBox="1"/>
          <p:nvPr/>
        </p:nvSpPr>
        <p:spPr>
          <a:xfrm>
            <a:off x="7697011" y="7960702"/>
            <a:ext cx="3045434" cy="97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Melnichenko Mikhail</a:t>
            </a:r>
          </a:p>
        </p:txBody>
      </p:sp>
      <p:sp>
        <p:nvSpPr>
          <p:cNvPr id="24" name="TextBox 16">
            <a:extLst>
              <a:ext uri="{FF2B5EF4-FFF2-40B4-BE49-F238E27FC236}">
                <a16:creationId xmlns:a16="http://schemas.microsoft.com/office/drawing/2014/main" id="{FB6972ED-B32E-574F-A00D-5AAF5005B62C}"/>
              </a:ext>
            </a:extLst>
          </p:cNvPr>
          <p:cNvSpPr txBox="1"/>
          <p:nvPr/>
        </p:nvSpPr>
        <p:spPr>
          <a:xfrm>
            <a:off x="1447800" y="8025650"/>
            <a:ext cx="6400800" cy="7096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3600" b="1" dirty="0">
                <a:solidFill>
                  <a:srgbClr val="F5F5F5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Advanced Time Series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B28A3EA9-F09F-07D6-E8A8-4036230C332D}"/>
              </a:ext>
            </a:extLst>
          </p:cNvPr>
          <p:cNvGrpSpPr/>
          <p:nvPr/>
        </p:nvGrpSpPr>
        <p:grpSpPr>
          <a:xfrm>
            <a:off x="11305244" y="7638820"/>
            <a:ext cx="6087406" cy="1619480"/>
            <a:chOff x="0" y="0"/>
            <a:chExt cx="1603267" cy="426530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200D463B-53E6-34A8-77B4-F9319A62B5B0}"/>
                </a:ext>
              </a:extLst>
            </p:cNvPr>
            <p:cNvSpPr/>
            <p:nvPr/>
          </p:nvSpPr>
          <p:spPr>
            <a:xfrm>
              <a:off x="0" y="0"/>
              <a:ext cx="1603267" cy="426530"/>
            </a:xfrm>
            <a:custGeom>
              <a:avLst/>
              <a:gdLst/>
              <a:ahLst/>
              <a:cxnLst/>
              <a:rect l="l" t="t" r="r" b="b"/>
              <a:pathLst>
                <a:path w="1603267" h="426530">
                  <a:moveTo>
                    <a:pt x="64861" y="0"/>
                  </a:moveTo>
                  <a:lnTo>
                    <a:pt x="1538406" y="0"/>
                  </a:lnTo>
                  <a:cubicBezTo>
                    <a:pt x="1574228" y="0"/>
                    <a:pt x="1603267" y="29039"/>
                    <a:pt x="1603267" y="64861"/>
                  </a:cubicBezTo>
                  <a:lnTo>
                    <a:pt x="1603267" y="361668"/>
                  </a:lnTo>
                  <a:cubicBezTo>
                    <a:pt x="1603267" y="397490"/>
                    <a:pt x="1574228" y="426530"/>
                    <a:pt x="1538406" y="426530"/>
                  </a:cubicBezTo>
                  <a:lnTo>
                    <a:pt x="64861" y="426530"/>
                  </a:lnTo>
                  <a:cubicBezTo>
                    <a:pt x="47659" y="426530"/>
                    <a:pt x="31161" y="419696"/>
                    <a:pt x="18997" y="407532"/>
                  </a:cubicBezTo>
                  <a:cubicBezTo>
                    <a:pt x="6834" y="395368"/>
                    <a:pt x="0" y="378870"/>
                    <a:pt x="0" y="361668"/>
                  </a:cubicBezTo>
                  <a:lnTo>
                    <a:pt x="0" y="64861"/>
                  </a:lnTo>
                  <a:cubicBezTo>
                    <a:pt x="0" y="29039"/>
                    <a:pt x="29039" y="0"/>
                    <a:pt x="64861" y="0"/>
                  </a:cubicBezTo>
                  <a:close/>
                </a:path>
              </a:pathLst>
            </a:custGeom>
            <a:solidFill>
              <a:srgbClr val="ECA406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E6A699EC-8C0D-8563-6A28-54F9767DFA10}"/>
                </a:ext>
              </a:extLst>
            </p:cNvPr>
            <p:cNvSpPr txBox="1"/>
            <p:nvPr/>
          </p:nvSpPr>
          <p:spPr>
            <a:xfrm>
              <a:off x="0" y="-38100"/>
              <a:ext cx="1603267" cy="464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5" name="TextBox 16">
            <a:extLst>
              <a:ext uri="{FF2B5EF4-FFF2-40B4-BE49-F238E27FC236}">
                <a16:creationId xmlns:a16="http://schemas.microsoft.com/office/drawing/2014/main" id="{CD4196B3-5BB8-0330-F075-E5A980E49815}"/>
              </a:ext>
            </a:extLst>
          </p:cNvPr>
          <p:cNvSpPr txBox="1"/>
          <p:nvPr/>
        </p:nvSpPr>
        <p:spPr>
          <a:xfrm>
            <a:off x="11753850" y="8025650"/>
            <a:ext cx="5638800" cy="7005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worldmansist</a:t>
            </a:r>
            <a:r>
              <a:rPr lang="en-US" sz="16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/German-energy-Time-Series-analysis-: Project for </a:t>
            </a:r>
            <a:r>
              <a:rPr lang="en-US" sz="1600" dirty="0" err="1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opencampus</a:t>
            </a:r>
            <a:r>
              <a:rPr lang="en-US" sz="16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course Advanced Time Series Prediction</a:t>
            </a:r>
            <a:endParaRPr lang="en-US" sz="1600" b="1" dirty="0">
              <a:solidFill>
                <a:schemeClr val="bg1"/>
              </a:solidFill>
              <a:latin typeface="Telegraf Heavy"/>
              <a:ea typeface="Telegraf Heavy"/>
              <a:cs typeface="Telegraf Heavy"/>
              <a:sym typeface="Telegraf Heav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1422</TotalTime>
  <Words>521</Words>
  <Application>Microsoft Office PowerPoint</Application>
  <PresentationFormat>Custom</PresentationFormat>
  <Paragraphs>132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Telegraf Heavy</vt:lpstr>
      <vt:lpstr>Telegraf</vt:lpstr>
      <vt:lpstr>Poppins</vt:lpstr>
      <vt:lpstr>Telegraf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Orange White Modern Pitch Deck Presentation</dc:title>
  <cp:lastModifiedBy>Михаил Мельниченко</cp:lastModifiedBy>
  <cp:revision>25</cp:revision>
  <dcterms:created xsi:type="dcterms:W3CDTF">2006-08-16T00:00:00Z</dcterms:created>
  <dcterms:modified xsi:type="dcterms:W3CDTF">2025-07-17T12:30:08Z</dcterms:modified>
  <dc:identifier>DAGslDLqfFk</dc:identifier>
</cp:coreProperties>
</file>